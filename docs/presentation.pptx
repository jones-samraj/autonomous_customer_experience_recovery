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e63a2001-687b-2197-6cde-203c7cab5188}">
          <p14:sldIdLst>
            <p14:sldId id="256"/>
          </p14:sldIdLst>
        </p14:section>
        <p14:section name="Problem" id="{b97e1ec1-0183-9397-cb9c-f8de01668647}">
          <p14:sldIdLst>
            <p14:sldId id="257"/>
          </p14:sldIdLst>
        </p14:section>
        <p14:section name="Solution" id="{8361ed41-893b-78dc-20cb-6612e9dfd1ae}">
          <p14:sldIdLst>
            <p14:sldId id="258"/>
            <p14:sldId id="259"/>
          </p14:sldIdLst>
        </p14:section>
        <p14:section name="Delivery" id="{a5e2acdd-80d0-d81a-bc0a-73e2b26ae9d8}">
          <p14:sldIdLst>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Team Deep-X and CX Sentinel AI. One line: when customers face issues, most companies only count complaints. CX Sentinel AI works out why it happened, who is hurt, proposes a fix, gets human approval, executes it and checks that customers are actually happy again. The ring shows the 8 steps; step 7 (amber) is the human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Existing tools: Voice-of-Customer platforms such as Qualtrics and Medallia give sentiment and topics but only guess at root cause. Helpdesk analytics such as Zendesk is single-channel and reactive. Product and AIOps tools such as Amplitude and Datadog see behaviour or systems but not which customers are hurt. Generic LLM chat gives fluent answers with no evidence trail. Common gap: none of them goes from what customers feel to what changed, who is hurt, what it costs and what to fix first. CX Sentinel AI closes that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8 steps left to right: Signal, Issue, Segment, Root Cause, Impact, Intervention, Execution, Verification. Steps 1 to 6 are AI analysis; step 7 is the human approval for high-risk actions (amber); step 8 watches live metrics for 24 to 48 hours and re-opens the investigation if complaints persist. Example: a Mumbai delivery delay is detected as one issue, traced to a logistics change, sized in revenue at risk, and fixed by rerouting plus credits.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differentiators: (1) evidence graph built with NetworkX so every claim is traceable; (2) counter-evidence, so customer sentiment alone is never proof of root cause; (3) segment-level impact; (4) financial impact: revenue at risk, churn probability, refund amounts; (5) human approval for consequential actions before any API call runs; (6) closed-loop verification that re-opens the case if complaints persist.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Stack: React 19 with TypeScript, Tailwind, React Flow for evidence graphs and Recharts on the front end; FastAPI with SQLAlchemy, Alembic and WebSockets on the back end; LangGraph multi-agent coordination with scikit-learn (HDBSCAN, anomaly detection), VADER and NetworkX in the AI engine; MySQL 8 with SQLite fallback. Roles: Viewer is read-only, Analyst investigates and simulates, Approver (amber) signs off consequential actions, Admin manages users and configuration. KPIs close the loop: time to detect and resolve, complaint rate in the affected segment, revenue at risk recovered, CSAT recovery and re-open 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188720"/>
            <a:ext cx="4572000" cy="77724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r>
              <a:rPr lang="en-US" sz="4400" b="1" dirty="0">
                <a:solidFill>
                  <a:schemeClr val="bg1"/>
                </a:solidFill>
              </a:rPr>
              <a:t>Title</a:t>
            </a:r>
            <a:endParaRPr lang="en-US" sz="4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LIGH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r>
              <a:rPr lang="en-US" sz="3400" b="1" dirty="0">
                <a:solidFill>
                  <a:schemeClr val="tx1"/>
                </a:solidFill>
              </a:rPr>
              <a:t>Slide title</a:t>
            </a:r>
            <a:endParaRPr lang="en-US" sz="3400" dirty="0"/>
          </a:p>
        </p:txBody>
      </p:sp>
      <p:sp>
        <p:nvSpPr>
          <p:cNvPr id="3" name="Text 0"/>
          <p:cNvSpPr/>
          <p:nvPr/>
        </p:nvSpPr>
        <p:spPr>
          <a:xfrm>
            <a:off x="457200" y="4754880"/>
            <a:ext cx="4572000" cy="228600"/>
          </a:xfrm>
          <a:prstGeom prst="rect">
            <a:avLst/>
          </a:prstGeom>
          <a:noFill/>
          <a:ln/>
        </p:spPr>
        <p:txBody>
          <a:bodyPr wrap="square" lIns="0" tIns="0" rIns="0" bIns="0" rtlCol="0" anchor="ctr"/>
          <a:lstStyle/>
          <a:p>
            <a:pPr indent="0" marL="0">
              <a:buNone/>
            </a:pPr>
            <a:r>
              <a:rPr lang="en-US" sz="1000" dirty="0">
                <a:solidFill>
                  <a:schemeClr val="accent4"/>
                </a:solidFill>
              </a:rPr>
              <a:t>Deep-X  |  CX Sentinel AI</a:t>
            </a:r>
            <a:endParaRPr lang="en-US"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TINT">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r>
              <a:rPr lang="en-US" sz="3400" b="1" dirty="0">
                <a:solidFill>
                  <a:schemeClr val="tx1"/>
                </a:solidFill>
              </a:rPr>
              <a:t>Slide title</a:t>
            </a:r>
            <a:endParaRPr lang="en-US" sz="3400" dirty="0"/>
          </a:p>
        </p:txBody>
      </p:sp>
      <p:sp>
        <p:nvSpPr>
          <p:cNvPr id="3" name="Text 0"/>
          <p:cNvSpPr/>
          <p:nvPr/>
        </p:nvSpPr>
        <p:spPr>
          <a:xfrm>
            <a:off x="457200" y="4754880"/>
            <a:ext cx="4572000" cy="228600"/>
          </a:xfrm>
          <a:prstGeom prst="rect">
            <a:avLst/>
          </a:prstGeom>
          <a:noFill/>
          <a:ln/>
        </p:spPr>
        <p:txBody>
          <a:bodyPr wrap="square" lIns="0" tIns="0" rIns="0" bIns="0" rtlCol="0" anchor="ctr"/>
          <a:lstStyle/>
          <a:p>
            <a:pPr indent="0" marL="0">
              <a:buNone/>
            </a:pPr>
            <a:r>
              <a:rPr lang="en-US" sz="1000" dirty="0">
                <a:solidFill>
                  <a:schemeClr val="accent4"/>
                </a:solidFill>
              </a:rPr>
              <a:t>Deep-X  |  CX Sentinel AI</a:t>
            </a:r>
            <a:endParaRPr lang="en-US"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r>
              <a:rPr lang="en-US" sz="3400" b="1" dirty="0">
                <a:solidFill>
                  <a:schemeClr val="bg1"/>
                </a:solidFill>
              </a:rPr>
              <a:t>Slide title</a:t>
            </a:r>
            <a:endParaRPr lang="en-US" sz="3400" dirty="0"/>
          </a:p>
        </p:txBody>
      </p:sp>
      <p:sp>
        <p:nvSpPr>
          <p:cNvPr id="3" name="Text 0"/>
          <p:cNvSpPr/>
          <p:nvPr/>
        </p:nvSpPr>
        <p:spPr>
          <a:xfrm>
            <a:off x="457200" y="4754880"/>
            <a:ext cx="4572000" cy="228600"/>
          </a:xfrm>
          <a:prstGeom prst="rect">
            <a:avLst/>
          </a:prstGeom>
          <a:noFill/>
          <a:ln/>
        </p:spPr>
        <p:txBody>
          <a:bodyPr wrap="square" lIns="0" tIns="0" rIns="0" bIns="0" rtlCol="0" anchor="ctr"/>
          <a:lstStyle/>
          <a:p>
            <a:pPr indent="0" marL="0">
              <a:buNone/>
            </a:pPr>
            <a:r>
              <a:rPr lang="en-US" sz="1000" dirty="0">
                <a:solidFill>
                  <a:schemeClr val="bg2"/>
                </a:solidFill>
              </a:rPr>
              <a:t>Deep-X  |  CX Sentinel AI</a:t>
            </a:r>
            <a:endParaRPr lang="en-US"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slideLayout" Target="../slideLayouts/slideLayout3.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Eyebrow"/>
          <p:cNvSpPr txBox="1"/>
          <p:nvPr/>
        </p:nvSpPr>
        <p:spPr>
          <a:xfrm>
            <a:off x="548640" y="777240"/>
            <a:ext cx="4572000" cy="274320"/>
          </a:xfrm>
          <a:prstGeom prst="rect">
            <a:avLst/>
          </a:prstGeom>
          <a:noFill/>
          <a:ln/>
        </p:spPr>
        <p:txBody>
          <a:bodyPr wrap="square" lIns="0" tIns="0" rIns="0" bIns="0" rtlCol="0" anchor="ctr"/>
          <a:lstStyle/>
          <a:p>
            <a:pPr indent="0" marL="0">
              <a:buNone/>
            </a:pPr>
            <a:r>
              <a:rPr lang="en-US" sz="1300" b="1" spc="400" kern="0" dirty="0">
                <a:solidFill>
                  <a:schemeClr val="accent1"/>
                </a:solidFill>
              </a:rPr>
              <a:t>TEAM DEEP-X</a:t>
            </a:r>
            <a:endParaRPr lang="en-US" sz="1300" dirty="0"/>
          </a:p>
        </p:txBody>
      </p:sp>
      <p:sp>
        <p:nvSpPr>
          <p:cNvPr id="3" name="Text 0"/>
          <p:cNvSpPr/>
          <p:nvPr>
            <p:ph idx="100" type="title" hasCustomPrompt="1"/>
          </p:nvPr>
        </p:nvSpPr>
        <p:spPr>
          <a:xfrm>
            <a:off x="548640" y="1188720"/>
            <a:ext cx="4572000" cy="777240"/>
          </a:xfrm>
          <a:prstGeom prst="rect">
            <a:avLst/>
          </a:prstGeom>
          <a:noFill/>
          <a:ln/>
        </p:spPr>
        <p:txBody>
          <a:bodyPr wrap="square" lIns="0" tIns="0" rIns="0" bIns="0" rtlCol="0" anchor="ctr"/>
          <a:lstStyle/>
          <a:p>
            <a:pPr algn="l" indent="0" marL="0">
              <a:buNone/>
            </a:pPr>
            <a:r>
              <a:rPr lang="en-US" sz="4400" b="1" dirty="0">
                <a:solidFill>
                  <a:schemeClr val="bg1"/>
                </a:solidFill>
              </a:rPr>
              <a:t>CX Sentinel AI</a:t>
            </a:r>
            <a:endParaRPr lang="en-US" sz="4400" dirty="0"/>
          </a:p>
        </p:txBody>
      </p:sp>
      <p:sp>
        <p:nvSpPr>
          <p:cNvPr id="4" name="Subtitle"/>
          <p:cNvSpPr txBox="1"/>
          <p:nvPr/>
        </p:nvSpPr>
        <p:spPr>
          <a:xfrm>
            <a:off x="548640" y="2103120"/>
            <a:ext cx="4572000" cy="777240"/>
          </a:xfrm>
          <a:prstGeom prst="rect">
            <a:avLst/>
          </a:prstGeom>
          <a:noFill/>
          <a:ln/>
        </p:spPr>
        <p:txBody>
          <a:bodyPr wrap="square" lIns="0" tIns="0" rIns="0" bIns="0" rtlCol="0" anchor="t"/>
          <a:lstStyle/>
          <a:p>
            <a:pPr indent="0" marL="0">
              <a:buNone/>
            </a:pPr>
            <a:r>
              <a:rPr lang="en-US" sz="2000" dirty="0">
                <a:solidFill>
                  <a:schemeClr val="bg1"/>
                </a:solidFill>
              </a:rPr>
              <a:t>Autonomous Customer Experience Intelligence and Recovery</a:t>
            </a:r>
            <a:endParaRPr lang="en-US" sz="2000" dirty="0"/>
          </a:p>
        </p:txBody>
      </p:sp>
      <p:sp>
        <p:nvSpPr>
          <p:cNvPr id="5" name="Tagline"/>
          <p:cNvSpPr txBox="1"/>
          <p:nvPr/>
        </p:nvSpPr>
        <p:spPr>
          <a:xfrm>
            <a:off x="548640" y="3017520"/>
            <a:ext cx="4389120" cy="548640"/>
          </a:xfrm>
          <a:prstGeom prst="rect">
            <a:avLst/>
          </a:prstGeom>
          <a:noFill/>
          <a:ln/>
        </p:spPr>
        <p:txBody>
          <a:bodyPr wrap="square" lIns="0" tIns="0" rIns="0" bIns="0" rtlCol="0" anchor="t"/>
          <a:lstStyle/>
          <a:p>
            <a:pPr indent="0" marL="0">
              <a:buNone/>
            </a:pPr>
            <a:r>
              <a:rPr lang="en-US" sz="1400" dirty="0">
                <a:solidFill>
                  <a:schemeClr val="bg2"/>
                </a:solidFill>
              </a:rPr>
              <a:t>From complaint spike to verified recovery, with evidence and human approval.</a:t>
            </a:r>
            <a:endParaRPr lang="en-US" sz="1400" dirty="0"/>
          </a:p>
        </p:txBody>
      </p:sp>
      <p:sp>
        <p:nvSpPr>
          <p:cNvPr id="6" name="Meta"/>
          <p:cNvSpPr txBox="1"/>
          <p:nvPr/>
        </p:nvSpPr>
        <p:spPr>
          <a:xfrm>
            <a:off x="548640" y="3931920"/>
            <a:ext cx="4754880" cy="640080"/>
          </a:xfrm>
          <a:prstGeom prst="rect">
            <a:avLst/>
          </a:prstGeom>
          <a:noFill/>
          <a:ln/>
        </p:spPr>
        <p:txBody>
          <a:bodyPr wrap="square" lIns="0" tIns="0" rIns="0" bIns="0" rtlCol="0" anchor="t"/>
          <a:lstStyle/>
          <a:p>
            <a:pPr indent="0" marL="0">
              <a:spcAft>
                <a:spcPts val="300"/>
              </a:spcAft>
              <a:buNone/>
            </a:pPr>
            <a:r>
              <a:rPr lang="en-US" sz="1200" b="1" dirty="0">
                <a:solidFill>
                  <a:schemeClr val="accent1"/>
                </a:solidFill>
              </a:rPr>
              <a:t>Theme: </a:t>
            </a:r>
            <a:pPr indent="0" marL="0">
              <a:spcAft>
                <a:spcPts val="300"/>
              </a:spcAft>
              <a:buNone/>
            </a:pPr>
            <a:r>
              <a:rPr lang="en-US" sz="1200" dirty="0">
                <a:solidFill>
                  <a:schemeClr val="bg1"/>
                </a:solidFill>
              </a:rPr>
              <a:t>AI for Business</a:t>
            </a:r>
            <a:endParaRPr lang="en-US" sz="1200" dirty="0"/>
          </a:p>
          <a:p>
            <a:pPr indent="0" marL="0">
              <a:spcAft>
                <a:spcPts val="300"/>
              </a:spcAft>
              <a:buNone/>
            </a:pPr>
            <a:r>
              <a:rPr lang="en-US" sz="1200" b="1" dirty="0">
                <a:solidFill>
                  <a:schemeClr val="accent1"/>
                </a:solidFill>
              </a:rPr>
              <a:t>Problem statement: </a:t>
            </a:r>
            <a:pPr indent="0" marL="0">
              <a:spcAft>
                <a:spcPts val="300"/>
              </a:spcAft>
              <a:buNone/>
            </a:pPr>
            <a:r>
              <a:rPr lang="en-US" sz="1200" dirty="0">
                <a:solidFill>
                  <a:schemeClr val="bg1"/>
                </a:solidFill>
              </a:rPr>
              <a:t>Autonomous Customer Experience Recovery</a:t>
            </a:r>
            <a:endParaRPr lang="en-US" sz="1200" dirty="0"/>
          </a:p>
        </p:txBody>
      </p:sp>
      <p:sp>
        <p:nvSpPr>
          <p:cNvPr id="7" name="Loop ring"/>
          <p:cNvSpPr/>
          <p:nvPr/>
        </p:nvSpPr>
        <p:spPr>
          <a:xfrm>
            <a:off x="5623560" y="1188720"/>
            <a:ext cx="2743200" cy="2743200"/>
          </a:xfrm>
          <a:prstGeom prst="ellipse">
            <a:avLst/>
          </a:prstGeom>
          <a:solidFill>
            <a:schemeClr val="accent4">
              <a:alpha val="20000"/>
            </a:schemeClr>
          </a:solidFill>
          <a:ln w="31750">
            <a:solidFill>
              <a:schemeClr val="accent1"/>
            </a:solidFill>
            <a:prstDash val="solid"/>
          </a:ln>
        </p:spPr>
      </p:sp>
      <p:sp>
        <p:nvSpPr>
          <p:cNvPr id="8" name="Step dot 1"/>
          <p:cNvSpPr txBox="1"/>
          <p:nvPr/>
        </p:nvSpPr>
        <p:spPr>
          <a:xfrm>
            <a:off x="6766560" y="960120"/>
            <a:ext cx="457200" cy="457200"/>
          </a:xfrm>
          <a:prstGeom prst="ellipse">
            <a:avLst/>
          </a:prstGeom>
          <a:solidFill>
            <a:schemeClr val="accent1"/>
          </a:solidFill>
          <a:ln w="25400">
            <a:solidFill>
              <a:schemeClr val="tx1"/>
            </a:solid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9" name="Step dot 2"/>
          <p:cNvSpPr txBox="1"/>
          <p:nvPr/>
        </p:nvSpPr>
        <p:spPr>
          <a:xfrm>
            <a:off x="7736428" y="1361852"/>
            <a:ext cx="457200" cy="457200"/>
          </a:xfrm>
          <a:prstGeom prst="ellipse">
            <a:avLst/>
          </a:prstGeom>
          <a:solidFill>
            <a:schemeClr val="accent1"/>
          </a:solidFill>
          <a:ln w="25400">
            <a:solidFill>
              <a:schemeClr val="tx1"/>
            </a:solid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10" name="Step dot 3"/>
          <p:cNvSpPr txBox="1"/>
          <p:nvPr/>
        </p:nvSpPr>
        <p:spPr>
          <a:xfrm>
            <a:off x="8138160" y="2331720"/>
            <a:ext cx="457200" cy="457200"/>
          </a:xfrm>
          <a:prstGeom prst="ellipse">
            <a:avLst/>
          </a:prstGeom>
          <a:solidFill>
            <a:schemeClr val="accent1"/>
          </a:solidFill>
          <a:ln w="25400">
            <a:solidFill>
              <a:schemeClr val="tx1"/>
            </a:solid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11" name="Step dot 4"/>
          <p:cNvSpPr txBox="1"/>
          <p:nvPr/>
        </p:nvSpPr>
        <p:spPr>
          <a:xfrm>
            <a:off x="7736428" y="3301588"/>
            <a:ext cx="457200" cy="457200"/>
          </a:xfrm>
          <a:prstGeom prst="ellipse">
            <a:avLst/>
          </a:prstGeom>
          <a:solidFill>
            <a:schemeClr val="accent1"/>
          </a:solidFill>
          <a:ln w="25400">
            <a:solidFill>
              <a:schemeClr val="tx1"/>
            </a:solid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12" name="Step dot 5"/>
          <p:cNvSpPr txBox="1"/>
          <p:nvPr/>
        </p:nvSpPr>
        <p:spPr>
          <a:xfrm>
            <a:off x="6766560" y="3703320"/>
            <a:ext cx="457200" cy="457200"/>
          </a:xfrm>
          <a:prstGeom prst="ellipse">
            <a:avLst/>
          </a:prstGeom>
          <a:solidFill>
            <a:schemeClr val="accent1"/>
          </a:solidFill>
          <a:ln w="25400">
            <a:solidFill>
              <a:schemeClr val="tx1"/>
            </a:solidFill>
          </a:ln>
        </p:spPr>
        <p:txBody>
          <a:bodyPr wrap="square" lIns="0" tIns="0" rIns="0" bIns="0" rtlCol="0" anchor="ctr"/>
          <a:lstStyle/>
          <a:p>
            <a:pPr algn="ctr" indent="0" marL="0">
              <a:buNone/>
            </a:pPr>
            <a:r>
              <a:rPr lang="en-US" sz="1400" b="1" dirty="0">
                <a:solidFill>
                  <a:schemeClr val="tx1"/>
                </a:solidFill>
              </a:rPr>
              <a:t>5</a:t>
            </a:r>
            <a:endParaRPr lang="en-US" sz="1400" dirty="0"/>
          </a:p>
        </p:txBody>
      </p:sp>
      <p:sp>
        <p:nvSpPr>
          <p:cNvPr id="13" name="Step dot 6"/>
          <p:cNvSpPr txBox="1"/>
          <p:nvPr/>
        </p:nvSpPr>
        <p:spPr>
          <a:xfrm>
            <a:off x="5796692" y="3301588"/>
            <a:ext cx="457200" cy="457200"/>
          </a:xfrm>
          <a:prstGeom prst="ellipse">
            <a:avLst/>
          </a:prstGeom>
          <a:solidFill>
            <a:schemeClr val="accent1"/>
          </a:solidFill>
          <a:ln w="25400">
            <a:solidFill>
              <a:schemeClr val="tx1"/>
            </a:solidFill>
          </a:ln>
        </p:spPr>
        <p:txBody>
          <a:bodyPr wrap="square" lIns="0" tIns="0" rIns="0" bIns="0" rtlCol="0" anchor="ctr"/>
          <a:lstStyle/>
          <a:p>
            <a:pPr algn="ctr" indent="0" marL="0">
              <a:buNone/>
            </a:pPr>
            <a:r>
              <a:rPr lang="en-US" sz="1400" b="1" dirty="0">
                <a:solidFill>
                  <a:schemeClr val="tx1"/>
                </a:solidFill>
              </a:rPr>
              <a:t>6</a:t>
            </a:r>
            <a:endParaRPr lang="en-US" sz="1400" dirty="0"/>
          </a:p>
        </p:txBody>
      </p:sp>
      <p:sp>
        <p:nvSpPr>
          <p:cNvPr id="14" name="Step dot 7"/>
          <p:cNvSpPr txBox="1"/>
          <p:nvPr/>
        </p:nvSpPr>
        <p:spPr>
          <a:xfrm>
            <a:off x="5394960" y="2331720"/>
            <a:ext cx="457200" cy="457200"/>
          </a:xfrm>
          <a:prstGeom prst="ellipse">
            <a:avLst/>
          </a:prstGeom>
          <a:solidFill>
            <a:schemeClr val="accent2"/>
          </a:solidFill>
          <a:ln w="25400">
            <a:solidFill>
              <a:schemeClr val="tx1"/>
            </a:solidFill>
          </a:ln>
        </p:spPr>
        <p:txBody>
          <a:bodyPr wrap="square" lIns="0" tIns="0" rIns="0" bIns="0" rtlCol="0" anchor="ctr"/>
          <a:lstStyle/>
          <a:p>
            <a:pPr algn="ctr" indent="0" marL="0">
              <a:buNone/>
            </a:pPr>
            <a:r>
              <a:rPr lang="en-US" sz="1400" b="1" dirty="0">
                <a:solidFill>
                  <a:schemeClr val="tx1"/>
                </a:solidFill>
              </a:rPr>
              <a:t>7</a:t>
            </a:r>
            <a:endParaRPr lang="en-US" sz="1400" dirty="0"/>
          </a:p>
        </p:txBody>
      </p:sp>
      <p:sp>
        <p:nvSpPr>
          <p:cNvPr id="15" name="Step dot 8"/>
          <p:cNvSpPr txBox="1"/>
          <p:nvPr/>
        </p:nvSpPr>
        <p:spPr>
          <a:xfrm>
            <a:off x="5796692" y="1361852"/>
            <a:ext cx="457200" cy="457200"/>
          </a:xfrm>
          <a:prstGeom prst="ellipse">
            <a:avLst/>
          </a:prstGeom>
          <a:solidFill>
            <a:schemeClr val="accent1"/>
          </a:solidFill>
          <a:ln w="25400">
            <a:solidFill>
              <a:schemeClr val="tx1"/>
            </a:solidFill>
          </a:ln>
        </p:spPr>
        <p:txBody>
          <a:bodyPr wrap="square" lIns="0" tIns="0" rIns="0" bIns="0" rtlCol="0" anchor="ctr"/>
          <a:lstStyle/>
          <a:p>
            <a:pPr algn="ctr" indent="0" marL="0">
              <a:buNone/>
            </a:pPr>
            <a:r>
              <a:rPr lang="en-US" sz="1400" b="1" dirty="0">
                <a:solidFill>
                  <a:schemeClr val="tx1"/>
                </a:solidFill>
              </a:rPr>
              <a:t>8</a:t>
            </a:r>
            <a:endParaRPr lang="en-US" sz="1400" dirty="0"/>
          </a:p>
        </p:txBody>
      </p:sp>
      <p:sp>
        <p:nvSpPr>
          <p:cNvPr id="16" name="Loop label"/>
          <p:cNvSpPr txBox="1"/>
          <p:nvPr/>
        </p:nvSpPr>
        <p:spPr>
          <a:xfrm>
            <a:off x="6126480" y="2103120"/>
            <a:ext cx="1737360" cy="685800"/>
          </a:xfrm>
          <a:prstGeom prst="rect">
            <a:avLst/>
          </a:prstGeom>
          <a:noFill/>
          <a:ln/>
        </p:spPr>
        <p:txBody>
          <a:bodyPr wrap="square" lIns="0" tIns="0" rIns="0" bIns="0" rtlCol="0" anchor="ctr"/>
          <a:lstStyle/>
          <a:p>
            <a:pPr algn="ctr" indent="0" marL="0">
              <a:buNone/>
            </a:pPr>
            <a:r>
              <a:rPr lang="en-US" sz="2000" b="1" dirty="0">
                <a:solidFill>
                  <a:schemeClr val="bg1"/>
                </a:solidFill>
              </a:rPr>
              <a:t>Closed-loop</a:t>
            </a:r>
            <a:endParaRPr lang="en-US" sz="2000" dirty="0"/>
          </a:p>
          <a:p>
            <a:pPr algn="ctr" indent="0" marL="0">
              <a:buNone/>
            </a:pPr>
            <a:r>
              <a:rPr lang="en-US" sz="2000" b="1" dirty="0">
                <a:solidFill>
                  <a:schemeClr val="bg1"/>
                </a:solidFill>
              </a:rPr>
              <a:t>recovery</a:t>
            </a:r>
            <a:endParaRPr lang="en-US" sz="2000" dirty="0"/>
          </a:p>
        </p:txBody>
      </p:sp>
      <p:sp>
        <p:nvSpPr>
          <p:cNvPr id="17" name="Loop caption"/>
          <p:cNvSpPr txBox="1"/>
          <p:nvPr/>
        </p:nvSpPr>
        <p:spPr>
          <a:xfrm>
            <a:off x="6126480" y="2788920"/>
            <a:ext cx="1737360" cy="274320"/>
          </a:xfrm>
          <a:prstGeom prst="rect">
            <a:avLst/>
          </a:prstGeom>
          <a:noFill/>
          <a:ln/>
        </p:spPr>
        <p:txBody>
          <a:bodyPr wrap="square" lIns="0" tIns="0" rIns="0" bIns="0" rtlCol="0" anchor="ctr"/>
          <a:lstStyle/>
          <a:p>
            <a:pPr algn="ctr" indent="0" marL="0">
              <a:buNone/>
            </a:pPr>
            <a:r>
              <a:rPr lang="en-US" sz="1200" dirty="0">
                <a:solidFill>
                  <a:schemeClr val="bg2"/>
                </a:solidFill>
              </a:rPr>
              <a:t>8 steps, human in the loop</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ctr"/>
          <a:lstStyle/>
          <a:p>
            <a:pPr algn="l" indent="0" marL="0">
              <a:buNone/>
            </a:pPr>
            <a:r>
              <a:rPr lang="en-US" sz="3400" b="1" dirty="0">
                <a:solidFill>
                  <a:schemeClr val="tx1"/>
                </a:solidFill>
              </a:rPr>
              <a:t>The gap in today's tools</a:t>
            </a:r>
            <a:endParaRPr lang="en-US" sz="3400" dirty="0"/>
          </a:p>
        </p:txBody>
      </p:sp>
      <p:sp>
        <p:nvSpPr>
          <p:cNvPr id="3" name="Subhead"/>
          <p:cNvSpPr txBox="1"/>
          <p:nvPr/>
        </p:nvSpPr>
        <p:spPr>
          <a:xfrm>
            <a:off x="457200" y="987552"/>
            <a:ext cx="8229600" cy="320040"/>
          </a:xfrm>
          <a:prstGeom prst="rect">
            <a:avLst/>
          </a:prstGeom>
          <a:noFill/>
          <a:ln/>
        </p:spPr>
        <p:txBody>
          <a:bodyPr wrap="square" lIns="0" tIns="0" rIns="0" bIns="0" rtlCol="0" anchor="ctr"/>
          <a:lstStyle/>
          <a:p>
            <a:pPr indent="0" marL="0">
              <a:buNone/>
            </a:pPr>
            <a:r>
              <a:rPr lang="en-US" sz="1600" i="1" dirty="0">
                <a:solidFill>
                  <a:schemeClr val="accent4"/>
                </a:solidFill>
              </a:rPr>
              <a:t>They count complaints. CX Sentinel AI resolves them.</a:t>
            </a:r>
            <a:endParaRPr lang="en-US" sz="1600" dirty="0"/>
          </a:p>
        </p:txBody>
      </p:sp>
      <p:sp>
        <p:nvSpPr>
          <p:cNvPr id="4" name="Existing tools card"/>
          <p:cNvSpPr/>
          <p:nvPr/>
        </p:nvSpPr>
        <p:spPr>
          <a:xfrm>
            <a:off x="457200" y="1463040"/>
            <a:ext cx="4023360" cy="3154680"/>
          </a:xfrm>
          <a:prstGeom prst="roundRect">
            <a:avLst>
              <a:gd name="adj" fmla="val 2899"/>
            </a:avLst>
          </a:prstGeom>
          <a:solidFill>
            <a:schemeClr val="bg2"/>
          </a:solidFill>
          <a:ln/>
        </p:spPr>
      </p:sp>
      <p:sp>
        <p:nvSpPr>
          <p:cNvPr id="5" name="Existing tools header"/>
          <p:cNvSpPr txBox="1"/>
          <p:nvPr/>
        </p:nvSpPr>
        <p:spPr>
          <a:xfrm>
            <a:off x="685800" y="1554480"/>
            <a:ext cx="3566160" cy="320040"/>
          </a:xfrm>
          <a:prstGeom prst="rect">
            <a:avLst/>
          </a:prstGeom>
          <a:noFill/>
          <a:ln/>
        </p:spPr>
        <p:txBody>
          <a:bodyPr wrap="square" lIns="0" tIns="0" rIns="0" bIns="0" rtlCol="0" anchor="ctr"/>
          <a:lstStyle/>
          <a:p>
            <a:pPr indent="0" marL="0">
              <a:buNone/>
            </a:pPr>
            <a:r>
              <a:rPr lang="en-US" sz="1600" b="1" dirty="0">
                <a:solidFill>
                  <a:schemeClr val="tx1"/>
                </a:solidFill>
              </a:rPr>
              <a:t>Today's tools</a:t>
            </a:r>
            <a:endParaRPr lang="en-US" sz="1600" dirty="0"/>
          </a:p>
        </p:txBody>
      </p:sp>
      <p:sp>
        <p:nvSpPr>
          <p:cNvPr id="6" name="Cross circle 1"/>
          <p:cNvSpPr/>
          <p:nvPr/>
        </p:nvSpPr>
        <p:spPr>
          <a:xfrm>
            <a:off x="685800" y="2103120"/>
            <a:ext cx="292608" cy="292608"/>
          </a:xfrm>
          <a:prstGeom prst="ellipse">
            <a:avLst/>
          </a:prstGeom>
          <a:solidFill>
            <a:schemeClr val="accent5"/>
          </a:solidFill>
          <a:ln/>
        </p:spPr>
      </p:sp>
      <p:pic>
        <p:nvPicPr>
          <p:cNvPr id="7" name="Cross icon 1" descr="cross">    </p:cNvPr>
          <p:cNvPicPr>
            <a:picLocks noChangeAspect="1"/>
          </p:cNvPicPr>
          <p:nvPr/>
        </p:nvPicPr>
        <p:blipFill>
          <a:blip r:embed="rId1"/>
          <a:stretch>
            <a:fillRect/>
          </a:stretch>
        </p:blipFill>
        <p:spPr>
          <a:xfrm>
            <a:off x="749808" y="2167128"/>
            <a:ext cx="164592" cy="164592"/>
          </a:xfrm>
          <a:prstGeom prst="rect">
            <a:avLst/>
          </a:prstGeom>
        </p:spPr>
      </p:pic>
      <p:sp>
        <p:nvSpPr>
          <p:cNvPr id="8" name="Existing tool 1"/>
          <p:cNvSpPr txBox="1"/>
          <p:nvPr/>
        </p:nvSpPr>
        <p:spPr>
          <a:xfrm>
            <a:off x="1143000" y="2029968"/>
            <a:ext cx="3200400" cy="502920"/>
          </a:xfrm>
          <a:prstGeom prst="rect">
            <a:avLst/>
          </a:prstGeom>
          <a:noFill/>
          <a:ln/>
        </p:spPr>
        <p:txBody>
          <a:bodyPr wrap="square" lIns="0" tIns="0" rIns="0" bIns="0" rtlCol="0" anchor="t"/>
          <a:lstStyle/>
          <a:p>
            <a:pPr indent="0" marL="0">
              <a:buNone/>
            </a:pPr>
            <a:r>
              <a:rPr lang="en-US" sz="1400" b="1" dirty="0">
                <a:solidFill>
                  <a:schemeClr val="tx1"/>
                </a:solidFill>
              </a:rPr>
              <a:t>VoC / XM platforms</a:t>
            </a:r>
            <a:endParaRPr lang="en-US" sz="1400" dirty="0"/>
          </a:p>
          <a:p>
            <a:pPr indent="0" marL="0">
              <a:buNone/>
            </a:pPr>
            <a:r>
              <a:rPr lang="en-US" sz="1200" dirty="0">
                <a:solidFill>
                  <a:schemeClr val="accent4"/>
                </a:solidFill>
              </a:rPr>
              <a:t>Sentiment and topics; root cause is a guess</a:t>
            </a:r>
            <a:endParaRPr lang="en-US" sz="1400" dirty="0"/>
          </a:p>
        </p:txBody>
      </p:sp>
      <p:sp>
        <p:nvSpPr>
          <p:cNvPr id="9" name="Cross circle 2"/>
          <p:cNvSpPr/>
          <p:nvPr/>
        </p:nvSpPr>
        <p:spPr>
          <a:xfrm>
            <a:off x="685800" y="2743200"/>
            <a:ext cx="292608" cy="292608"/>
          </a:xfrm>
          <a:prstGeom prst="ellipse">
            <a:avLst/>
          </a:prstGeom>
          <a:solidFill>
            <a:schemeClr val="accent5"/>
          </a:solidFill>
          <a:ln/>
        </p:spPr>
      </p:sp>
      <p:pic>
        <p:nvPicPr>
          <p:cNvPr id="10" name="Cross icon 2" descr="cross">    </p:cNvPr>
          <p:cNvPicPr>
            <a:picLocks noChangeAspect="1"/>
          </p:cNvPicPr>
          <p:nvPr/>
        </p:nvPicPr>
        <p:blipFill>
          <a:blip r:embed="rId2"/>
          <a:stretch>
            <a:fillRect/>
          </a:stretch>
        </p:blipFill>
        <p:spPr>
          <a:xfrm>
            <a:off x="749808" y="2807208"/>
            <a:ext cx="164592" cy="164592"/>
          </a:xfrm>
          <a:prstGeom prst="rect">
            <a:avLst/>
          </a:prstGeom>
        </p:spPr>
      </p:pic>
      <p:sp>
        <p:nvSpPr>
          <p:cNvPr id="11" name="Existing tool 2"/>
          <p:cNvSpPr txBox="1"/>
          <p:nvPr/>
        </p:nvSpPr>
        <p:spPr>
          <a:xfrm>
            <a:off x="1143000" y="2670048"/>
            <a:ext cx="3200400" cy="502920"/>
          </a:xfrm>
          <a:prstGeom prst="rect">
            <a:avLst/>
          </a:prstGeom>
          <a:noFill/>
          <a:ln/>
        </p:spPr>
        <p:txBody>
          <a:bodyPr wrap="square" lIns="0" tIns="0" rIns="0" bIns="0" rtlCol="0" anchor="t"/>
          <a:lstStyle/>
          <a:p>
            <a:pPr indent="0" marL="0">
              <a:buNone/>
            </a:pPr>
            <a:r>
              <a:rPr lang="en-US" sz="1400" b="1" dirty="0">
                <a:solidFill>
                  <a:schemeClr val="tx1"/>
                </a:solidFill>
              </a:rPr>
              <a:t>Helpdesk analytics</a:t>
            </a:r>
            <a:endParaRPr lang="en-US" sz="1400" dirty="0"/>
          </a:p>
          <a:p>
            <a:pPr indent="0" marL="0">
              <a:buNone/>
            </a:pPr>
            <a:r>
              <a:rPr lang="en-US" sz="1200" dirty="0">
                <a:solidFill>
                  <a:schemeClr val="accent4"/>
                </a:solidFill>
              </a:rPr>
              <a:t>One channel, reactive, no usage or ops data</a:t>
            </a:r>
            <a:endParaRPr lang="en-US" sz="1400" dirty="0"/>
          </a:p>
        </p:txBody>
      </p:sp>
      <p:sp>
        <p:nvSpPr>
          <p:cNvPr id="12" name="Cross circle 3"/>
          <p:cNvSpPr/>
          <p:nvPr/>
        </p:nvSpPr>
        <p:spPr>
          <a:xfrm>
            <a:off x="685800" y="3383280"/>
            <a:ext cx="292608" cy="292608"/>
          </a:xfrm>
          <a:prstGeom prst="ellipse">
            <a:avLst/>
          </a:prstGeom>
          <a:solidFill>
            <a:schemeClr val="accent5"/>
          </a:solidFill>
          <a:ln/>
        </p:spPr>
      </p:sp>
      <p:pic>
        <p:nvPicPr>
          <p:cNvPr id="13" name="Cross icon 3" descr="cross">    </p:cNvPr>
          <p:cNvPicPr>
            <a:picLocks noChangeAspect="1"/>
          </p:cNvPicPr>
          <p:nvPr/>
        </p:nvPicPr>
        <p:blipFill>
          <a:blip r:embed="rId3"/>
          <a:stretch>
            <a:fillRect/>
          </a:stretch>
        </p:blipFill>
        <p:spPr>
          <a:xfrm>
            <a:off x="749808" y="3447288"/>
            <a:ext cx="164592" cy="164592"/>
          </a:xfrm>
          <a:prstGeom prst="rect">
            <a:avLst/>
          </a:prstGeom>
        </p:spPr>
      </p:pic>
      <p:sp>
        <p:nvSpPr>
          <p:cNvPr id="14" name="Existing tool 3"/>
          <p:cNvSpPr txBox="1"/>
          <p:nvPr/>
        </p:nvSpPr>
        <p:spPr>
          <a:xfrm>
            <a:off x="1143000" y="3310128"/>
            <a:ext cx="3200400" cy="502920"/>
          </a:xfrm>
          <a:prstGeom prst="rect">
            <a:avLst/>
          </a:prstGeom>
          <a:noFill/>
          <a:ln/>
        </p:spPr>
        <p:txBody>
          <a:bodyPr wrap="square" lIns="0" tIns="0" rIns="0" bIns="0" rtlCol="0" anchor="t"/>
          <a:lstStyle/>
          <a:p>
            <a:pPr indent="0" marL="0">
              <a:buNone/>
            </a:pPr>
            <a:r>
              <a:rPr lang="en-US" sz="1400" b="1" dirty="0">
                <a:solidFill>
                  <a:schemeClr val="tx1"/>
                </a:solidFill>
              </a:rPr>
              <a:t>Product and AIOps tools</a:t>
            </a:r>
            <a:endParaRPr lang="en-US" sz="1400" dirty="0"/>
          </a:p>
          <a:p>
            <a:pPr indent="0" marL="0">
              <a:buNone/>
            </a:pPr>
            <a:r>
              <a:rPr lang="en-US" sz="1200" dirty="0">
                <a:solidFill>
                  <a:schemeClr val="accent4"/>
                </a:solidFill>
              </a:rPr>
              <a:t>Show systems or behaviour, not who is hurt</a:t>
            </a:r>
            <a:endParaRPr lang="en-US" sz="1400" dirty="0"/>
          </a:p>
        </p:txBody>
      </p:sp>
      <p:sp>
        <p:nvSpPr>
          <p:cNvPr id="15" name="Cross circle 4"/>
          <p:cNvSpPr/>
          <p:nvPr/>
        </p:nvSpPr>
        <p:spPr>
          <a:xfrm>
            <a:off x="685800" y="4023360"/>
            <a:ext cx="292608" cy="292608"/>
          </a:xfrm>
          <a:prstGeom prst="ellipse">
            <a:avLst/>
          </a:prstGeom>
          <a:solidFill>
            <a:schemeClr val="accent5"/>
          </a:solidFill>
          <a:ln/>
        </p:spPr>
      </p:sp>
      <p:pic>
        <p:nvPicPr>
          <p:cNvPr id="16" name="Cross icon 4" descr="cross">    </p:cNvPr>
          <p:cNvPicPr>
            <a:picLocks noChangeAspect="1"/>
          </p:cNvPicPr>
          <p:nvPr/>
        </p:nvPicPr>
        <p:blipFill>
          <a:blip r:embed="rId4"/>
          <a:stretch>
            <a:fillRect/>
          </a:stretch>
        </p:blipFill>
        <p:spPr>
          <a:xfrm>
            <a:off x="749808" y="4087368"/>
            <a:ext cx="164592" cy="164592"/>
          </a:xfrm>
          <a:prstGeom prst="rect">
            <a:avLst/>
          </a:prstGeom>
        </p:spPr>
      </p:pic>
      <p:sp>
        <p:nvSpPr>
          <p:cNvPr id="17" name="Existing tool 4"/>
          <p:cNvSpPr txBox="1"/>
          <p:nvPr/>
        </p:nvSpPr>
        <p:spPr>
          <a:xfrm>
            <a:off x="1143000" y="3950208"/>
            <a:ext cx="3200400" cy="502920"/>
          </a:xfrm>
          <a:prstGeom prst="rect">
            <a:avLst/>
          </a:prstGeom>
          <a:noFill/>
          <a:ln/>
        </p:spPr>
        <p:txBody>
          <a:bodyPr wrap="square" lIns="0" tIns="0" rIns="0" bIns="0" rtlCol="0" anchor="t"/>
          <a:lstStyle/>
          <a:p>
            <a:pPr indent="0" marL="0">
              <a:buNone/>
            </a:pPr>
            <a:r>
              <a:rPr lang="en-US" sz="1400" b="1" dirty="0">
                <a:solidFill>
                  <a:schemeClr val="tx1"/>
                </a:solidFill>
              </a:rPr>
              <a:t>Generic LLM chat</a:t>
            </a:r>
            <a:endParaRPr lang="en-US" sz="1400" dirty="0"/>
          </a:p>
          <a:p>
            <a:pPr indent="0" marL="0">
              <a:buNone/>
            </a:pPr>
            <a:r>
              <a:rPr lang="en-US" sz="1200" dirty="0">
                <a:solidFill>
                  <a:schemeClr val="accent4"/>
                </a:solidFill>
              </a:rPr>
              <a:t>Fluent answers with no evidence trail</a:t>
            </a:r>
            <a:endParaRPr lang="en-US" sz="1400" dirty="0"/>
          </a:p>
        </p:txBody>
      </p:sp>
      <p:sp>
        <p:nvSpPr>
          <p:cNvPr id="18" name="CX Sentinel card"/>
          <p:cNvSpPr/>
          <p:nvPr/>
        </p:nvSpPr>
        <p:spPr>
          <a:xfrm>
            <a:off x="4663440" y="1463040"/>
            <a:ext cx="4023360" cy="3154680"/>
          </a:xfrm>
          <a:prstGeom prst="roundRect">
            <a:avLst>
              <a:gd name="adj" fmla="val 2899"/>
            </a:avLst>
          </a:prstGeom>
          <a:solidFill>
            <a:schemeClr val="tx1"/>
          </a:solidFill>
          <a:ln/>
          <a:effectLst>
            <a:outerShdw sx="100000" sy="100000" kx="0" ky="0" algn="bl" rotWithShape="0" blurRad="101600" dist="25400" dir="5400000">
              <a:srgbClr val="000000">
                <a:alpha val="12000"/>
              </a:srgbClr>
            </a:outerShdw>
          </a:effectLst>
        </p:spPr>
      </p:sp>
      <p:sp>
        <p:nvSpPr>
          <p:cNvPr id="19" name="CX Sentinel header"/>
          <p:cNvSpPr txBox="1"/>
          <p:nvPr/>
        </p:nvSpPr>
        <p:spPr>
          <a:xfrm>
            <a:off x="4892040" y="1554480"/>
            <a:ext cx="3566160" cy="320040"/>
          </a:xfrm>
          <a:prstGeom prst="rect">
            <a:avLst/>
          </a:prstGeom>
          <a:noFill/>
          <a:ln/>
        </p:spPr>
        <p:txBody>
          <a:bodyPr wrap="square" lIns="0" tIns="0" rIns="0" bIns="0" rtlCol="0" anchor="ctr"/>
          <a:lstStyle/>
          <a:p>
            <a:pPr indent="0" marL="0">
              <a:buNone/>
            </a:pPr>
            <a:r>
              <a:rPr lang="en-US" sz="1600" b="1" dirty="0">
                <a:solidFill>
                  <a:schemeClr val="accent1"/>
                </a:solidFill>
              </a:rPr>
              <a:t>CX Sentinel AI</a:t>
            </a:r>
            <a:endParaRPr lang="en-US" sz="1600" dirty="0"/>
          </a:p>
        </p:txBody>
      </p:sp>
      <p:sp>
        <p:nvSpPr>
          <p:cNvPr id="20" name="Check circle 1"/>
          <p:cNvSpPr/>
          <p:nvPr/>
        </p:nvSpPr>
        <p:spPr>
          <a:xfrm>
            <a:off x="4892040" y="2103120"/>
            <a:ext cx="292608" cy="292608"/>
          </a:xfrm>
          <a:prstGeom prst="ellipse">
            <a:avLst/>
          </a:prstGeom>
          <a:solidFill>
            <a:schemeClr val="accent1"/>
          </a:solidFill>
          <a:ln/>
        </p:spPr>
      </p:sp>
      <p:pic>
        <p:nvPicPr>
          <p:cNvPr id="21" name="Check icon 1" descr="check">    </p:cNvPr>
          <p:cNvPicPr>
            <a:picLocks noChangeAspect="1"/>
          </p:cNvPicPr>
          <p:nvPr/>
        </p:nvPicPr>
        <p:blipFill>
          <a:blip r:embed="rId5"/>
          <a:stretch>
            <a:fillRect/>
          </a:stretch>
        </p:blipFill>
        <p:spPr>
          <a:xfrm>
            <a:off x="4956048" y="2167128"/>
            <a:ext cx="164592" cy="164592"/>
          </a:xfrm>
          <a:prstGeom prst="rect">
            <a:avLst/>
          </a:prstGeom>
        </p:spPr>
      </p:pic>
      <p:sp>
        <p:nvSpPr>
          <p:cNvPr id="22" name="CX Sentinel feature 1"/>
          <p:cNvSpPr txBox="1"/>
          <p:nvPr/>
        </p:nvSpPr>
        <p:spPr>
          <a:xfrm>
            <a:off x="5349240" y="2029968"/>
            <a:ext cx="3200400" cy="502920"/>
          </a:xfrm>
          <a:prstGeom prst="rect">
            <a:avLst/>
          </a:prstGeom>
          <a:noFill/>
          <a:ln/>
        </p:spPr>
        <p:txBody>
          <a:bodyPr wrap="square" lIns="0" tIns="0" rIns="0" bIns="0" rtlCol="0" anchor="t"/>
          <a:lstStyle/>
          <a:p>
            <a:pPr indent="0" marL="0">
              <a:buNone/>
            </a:pPr>
            <a:r>
              <a:rPr lang="en-US" sz="1400" b="1" dirty="0">
                <a:solidFill>
                  <a:schemeClr val="bg1"/>
                </a:solidFill>
              </a:rPr>
              <a:t>Evidence-graded root cause</a:t>
            </a:r>
            <a:endParaRPr lang="en-US" sz="1400" dirty="0"/>
          </a:p>
          <a:p>
            <a:pPr indent="0" marL="0">
              <a:buNone/>
            </a:pPr>
            <a:r>
              <a:rPr lang="en-US" sz="1200" dirty="0">
                <a:solidFill>
                  <a:schemeClr val="bg2"/>
                </a:solidFill>
              </a:rPr>
              <a:t>Counter-evidence scored, not just sentiment</a:t>
            </a:r>
            <a:endParaRPr lang="en-US" sz="1400" dirty="0"/>
          </a:p>
        </p:txBody>
      </p:sp>
      <p:sp>
        <p:nvSpPr>
          <p:cNvPr id="23" name="Check circle 2"/>
          <p:cNvSpPr/>
          <p:nvPr/>
        </p:nvSpPr>
        <p:spPr>
          <a:xfrm>
            <a:off x="4892040" y="2743200"/>
            <a:ext cx="292608" cy="292608"/>
          </a:xfrm>
          <a:prstGeom prst="ellipse">
            <a:avLst/>
          </a:prstGeom>
          <a:solidFill>
            <a:schemeClr val="accent1"/>
          </a:solidFill>
          <a:ln/>
        </p:spPr>
      </p:sp>
      <p:pic>
        <p:nvPicPr>
          <p:cNvPr id="24" name="Check icon 2" descr="check">    </p:cNvPr>
          <p:cNvPicPr>
            <a:picLocks noChangeAspect="1"/>
          </p:cNvPicPr>
          <p:nvPr/>
        </p:nvPicPr>
        <p:blipFill>
          <a:blip r:embed="rId6"/>
          <a:stretch>
            <a:fillRect/>
          </a:stretch>
        </p:blipFill>
        <p:spPr>
          <a:xfrm>
            <a:off x="4956048" y="2807208"/>
            <a:ext cx="164592" cy="164592"/>
          </a:xfrm>
          <a:prstGeom prst="rect">
            <a:avLst/>
          </a:prstGeom>
        </p:spPr>
      </p:pic>
      <p:sp>
        <p:nvSpPr>
          <p:cNvPr id="25" name="CX Sentinel feature 2"/>
          <p:cNvSpPr txBox="1"/>
          <p:nvPr/>
        </p:nvSpPr>
        <p:spPr>
          <a:xfrm>
            <a:off x="5349240" y="2670048"/>
            <a:ext cx="3200400" cy="502920"/>
          </a:xfrm>
          <a:prstGeom prst="rect">
            <a:avLst/>
          </a:prstGeom>
          <a:noFill/>
          <a:ln/>
        </p:spPr>
        <p:txBody>
          <a:bodyPr wrap="square" lIns="0" tIns="0" rIns="0" bIns="0" rtlCol="0" anchor="t"/>
          <a:lstStyle/>
          <a:p>
            <a:pPr indent="0" marL="0">
              <a:buNone/>
            </a:pPr>
            <a:r>
              <a:rPr lang="en-US" sz="1400" b="1" dirty="0">
                <a:solidFill>
                  <a:schemeClr val="bg1"/>
                </a:solidFill>
              </a:rPr>
              <a:t>Segment-level impact</a:t>
            </a:r>
            <a:endParaRPr lang="en-US" sz="1400" dirty="0"/>
          </a:p>
          <a:p>
            <a:pPr indent="0" marL="0">
              <a:buNone/>
            </a:pPr>
            <a:r>
              <a:rPr lang="en-US" sz="1200" dirty="0">
                <a:solidFill>
                  <a:schemeClr val="bg2"/>
                </a:solidFill>
              </a:rPr>
              <a:t>Who is hurt, and revenue and churn at risk</a:t>
            </a:r>
            <a:endParaRPr lang="en-US" sz="1400" dirty="0"/>
          </a:p>
        </p:txBody>
      </p:sp>
      <p:sp>
        <p:nvSpPr>
          <p:cNvPr id="26" name="Check circle 3"/>
          <p:cNvSpPr/>
          <p:nvPr/>
        </p:nvSpPr>
        <p:spPr>
          <a:xfrm>
            <a:off x="4892040" y="3383280"/>
            <a:ext cx="292608" cy="292608"/>
          </a:xfrm>
          <a:prstGeom prst="ellipse">
            <a:avLst/>
          </a:prstGeom>
          <a:solidFill>
            <a:schemeClr val="accent1"/>
          </a:solidFill>
          <a:ln/>
        </p:spPr>
      </p:sp>
      <p:pic>
        <p:nvPicPr>
          <p:cNvPr id="27" name="Check icon 3" descr="check">    </p:cNvPr>
          <p:cNvPicPr>
            <a:picLocks noChangeAspect="1"/>
          </p:cNvPicPr>
          <p:nvPr/>
        </p:nvPicPr>
        <p:blipFill>
          <a:blip r:embed="rId7"/>
          <a:stretch>
            <a:fillRect/>
          </a:stretch>
        </p:blipFill>
        <p:spPr>
          <a:xfrm>
            <a:off x="4956048" y="3447288"/>
            <a:ext cx="164592" cy="164592"/>
          </a:xfrm>
          <a:prstGeom prst="rect">
            <a:avLst/>
          </a:prstGeom>
        </p:spPr>
      </p:pic>
      <p:sp>
        <p:nvSpPr>
          <p:cNvPr id="28" name="CX Sentinel feature 3"/>
          <p:cNvSpPr txBox="1"/>
          <p:nvPr/>
        </p:nvSpPr>
        <p:spPr>
          <a:xfrm>
            <a:off x="5349240" y="3310128"/>
            <a:ext cx="3200400" cy="502920"/>
          </a:xfrm>
          <a:prstGeom prst="rect">
            <a:avLst/>
          </a:prstGeom>
          <a:noFill/>
          <a:ln/>
        </p:spPr>
        <p:txBody>
          <a:bodyPr wrap="square" lIns="0" tIns="0" rIns="0" bIns="0" rtlCol="0" anchor="t"/>
          <a:lstStyle/>
          <a:p>
            <a:pPr indent="0" marL="0">
              <a:buNone/>
            </a:pPr>
            <a:r>
              <a:rPr lang="en-US" sz="1400" b="1" dirty="0">
                <a:solidFill>
                  <a:schemeClr val="bg1"/>
                </a:solidFill>
              </a:rPr>
              <a:t>Human-approved action</a:t>
            </a:r>
            <a:endParaRPr lang="en-US" sz="1400" dirty="0"/>
          </a:p>
          <a:p>
            <a:pPr indent="0" marL="0">
              <a:buNone/>
            </a:pPr>
            <a:r>
              <a:rPr lang="en-US" sz="1200" dirty="0">
                <a:solidFill>
                  <a:schemeClr val="bg2"/>
                </a:solidFill>
              </a:rPr>
              <a:t>Fix proposed, approved, then run via API</a:t>
            </a:r>
            <a:endParaRPr lang="en-US" sz="1400" dirty="0"/>
          </a:p>
        </p:txBody>
      </p:sp>
      <p:sp>
        <p:nvSpPr>
          <p:cNvPr id="29" name="Check circle 4"/>
          <p:cNvSpPr/>
          <p:nvPr/>
        </p:nvSpPr>
        <p:spPr>
          <a:xfrm>
            <a:off x="4892040" y="4023360"/>
            <a:ext cx="292608" cy="292608"/>
          </a:xfrm>
          <a:prstGeom prst="ellipse">
            <a:avLst/>
          </a:prstGeom>
          <a:solidFill>
            <a:schemeClr val="accent1"/>
          </a:solidFill>
          <a:ln/>
        </p:spPr>
      </p:sp>
      <p:pic>
        <p:nvPicPr>
          <p:cNvPr id="30" name="Check icon 4" descr="check">    </p:cNvPr>
          <p:cNvPicPr>
            <a:picLocks noChangeAspect="1"/>
          </p:cNvPicPr>
          <p:nvPr/>
        </p:nvPicPr>
        <p:blipFill>
          <a:blip r:embed="rId8"/>
          <a:stretch>
            <a:fillRect/>
          </a:stretch>
        </p:blipFill>
        <p:spPr>
          <a:xfrm>
            <a:off x="4956048" y="4087368"/>
            <a:ext cx="164592" cy="164592"/>
          </a:xfrm>
          <a:prstGeom prst="rect">
            <a:avLst/>
          </a:prstGeom>
        </p:spPr>
      </p:pic>
      <p:sp>
        <p:nvSpPr>
          <p:cNvPr id="31" name="CX Sentinel feature 4"/>
          <p:cNvSpPr txBox="1"/>
          <p:nvPr/>
        </p:nvSpPr>
        <p:spPr>
          <a:xfrm>
            <a:off x="5349240" y="3950208"/>
            <a:ext cx="3200400" cy="502920"/>
          </a:xfrm>
          <a:prstGeom prst="rect">
            <a:avLst/>
          </a:prstGeom>
          <a:noFill/>
          <a:ln/>
        </p:spPr>
        <p:txBody>
          <a:bodyPr wrap="square" lIns="0" tIns="0" rIns="0" bIns="0" rtlCol="0" anchor="t"/>
          <a:lstStyle/>
          <a:p>
            <a:pPr indent="0" marL="0">
              <a:buNone/>
            </a:pPr>
            <a:r>
              <a:rPr lang="en-US" sz="1400" b="1" dirty="0">
                <a:solidFill>
                  <a:schemeClr val="bg1"/>
                </a:solidFill>
              </a:rPr>
              <a:t>Closed-loop verification</a:t>
            </a:r>
            <a:endParaRPr lang="en-US" sz="1400" dirty="0"/>
          </a:p>
          <a:p>
            <a:pPr indent="0" marL="0">
              <a:buNone/>
            </a:pPr>
            <a:r>
              <a:rPr lang="en-US" sz="1200" dirty="0">
                <a:solidFill>
                  <a:schemeClr val="bg2"/>
                </a:solidFill>
              </a:rPr>
              <a:t>Re-opens the case if complaints persist</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ctr"/>
          <a:lstStyle/>
          <a:p>
            <a:pPr algn="l" indent="0" marL="0">
              <a:buNone/>
            </a:pPr>
            <a:r>
              <a:rPr lang="en-US" sz="3400" b="1" dirty="0">
                <a:solidFill>
                  <a:schemeClr val="tx1"/>
                </a:solidFill>
              </a:rPr>
              <a:t>The 8-step lifecycle</a:t>
            </a:r>
            <a:endParaRPr lang="en-US" sz="3400" dirty="0"/>
          </a:p>
        </p:txBody>
      </p:sp>
      <p:sp>
        <p:nvSpPr>
          <p:cNvPr id="3" name="Step card 1"/>
          <p:cNvSpPr/>
          <p:nvPr/>
        </p:nvSpPr>
        <p:spPr>
          <a:xfrm>
            <a:off x="457200" y="1188720"/>
            <a:ext cx="1874520" cy="1600200"/>
          </a:xfrm>
          <a:prstGeom prst="roundRect">
            <a:avLst>
              <a:gd name="adj" fmla="val 5714"/>
            </a:avLst>
          </a:prstGeom>
          <a:solidFill>
            <a:schemeClr val="bg1"/>
          </a:solidFill>
          <a:ln/>
          <a:effectLst>
            <a:outerShdw sx="100000" sy="100000" kx="0" ky="0" algn="bl" rotWithShape="0" blurRad="101600" dist="25400" dir="5400000">
              <a:srgbClr val="000000">
                <a:alpha val="12000"/>
              </a:srgbClr>
            </a:outerShdw>
          </a:effectLst>
        </p:spPr>
      </p:sp>
      <p:sp>
        <p:nvSpPr>
          <p:cNvPr id="4" name="Step number 1"/>
          <p:cNvSpPr txBox="1"/>
          <p:nvPr/>
        </p:nvSpPr>
        <p:spPr>
          <a:xfrm>
            <a:off x="621792" y="1335024"/>
            <a:ext cx="384048" cy="384048"/>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tx1"/>
                </a:solidFill>
              </a:rPr>
              <a:t>1</a:t>
            </a:r>
            <a:endParaRPr lang="en-US" sz="1500" dirty="0"/>
          </a:p>
        </p:txBody>
      </p:sp>
      <p:sp>
        <p:nvSpPr>
          <p:cNvPr id="5" name="Step name 1"/>
          <p:cNvSpPr txBox="1"/>
          <p:nvPr/>
        </p:nvSpPr>
        <p:spPr>
          <a:xfrm>
            <a:off x="621792" y="1810512"/>
            <a:ext cx="1600200" cy="292608"/>
          </a:xfrm>
          <a:prstGeom prst="rect">
            <a:avLst/>
          </a:prstGeom>
          <a:noFill/>
          <a:ln/>
        </p:spPr>
        <p:txBody>
          <a:bodyPr wrap="square" lIns="0" tIns="0" rIns="0" bIns="0" rtlCol="0" anchor="ctr"/>
          <a:lstStyle/>
          <a:p>
            <a:pPr indent="0" marL="0">
              <a:buNone/>
            </a:pPr>
            <a:r>
              <a:rPr lang="en-US" sz="1600" b="1" dirty="0">
                <a:solidFill>
                  <a:schemeClr val="tx1"/>
                </a:solidFill>
              </a:rPr>
              <a:t>Signal</a:t>
            </a:r>
            <a:endParaRPr lang="en-US" sz="1600" dirty="0"/>
          </a:p>
        </p:txBody>
      </p:sp>
      <p:sp>
        <p:nvSpPr>
          <p:cNvPr id="6" name="Step description 1"/>
          <p:cNvSpPr txBox="1"/>
          <p:nvPr/>
        </p:nvSpPr>
        <p:spPr>
          <a:xfrm>
            <a:off x="621792" y="2121408"/>
            <a:ext cx="1563624" cy="594360"/>
          </a:xfrm>
          <a:prstGeom prst="rect">
            <a:avLst/>
          </a:prstGeom>
          <a:noFill/>
          <a:ln/>
        </p:spPr>
        <p:txBody>
          <a:bodyPr wrap="square" lIns="0" tIns="0" rIns="0" bIns="0" rtlCol="0" anchor="t"/>
          <a:lstStyle/>
          <a:p>
            <a:pPr indent="0" marL="0">
              <a:buNone/>
            </a:pPr>
            <a:r>
              <a:rPr lang="en-US" sz="1200" dirty="0">
                <a:solidFill>
                  <a:schemeClr val="accent4"/>
                </a:solidFill>
              </a:rPr>
              <a:t>Ingest reviews, social posts, tickets and system metrics</a:t>
            </a:r>
            <a:endParaRPr lang="en-US" sz="1200" dirty="0"/>
          </a:p>
        </p:txBody>
      </p:sp>
      <p:sp>
        <p:nvSpPr>
          <p:cNvPr id="7" name="Step card 2"/>
          <p:cNvSpPr/>
          <p:nvPr/>
        </p:nvSpPr>
        <p:spPr>
          <a:xfrm>
            <a:off x="2575560" y="1188720"/>
            <a:ext cx="1874520" cy="1600200"/>
          </a:xfrm>
          <a:prstGeom prst="roundRect">
            <a:avLst>
              <a:gd name="adj" fmla="val 5714"/>
            </a:avLst>
          </a:prstGeom>
          <a:solidFill>
            <a:schemeClr val="bg1"/>
          </a:solidFill>
          <a:ln/>
          <a:effectLst>
            <a:outerShdw sx="100000" sy="100000" kx="0" ky="0" algn="bl" rotWithShape="0" blurRad="101600" dist="25400" dir="5400000">
              <a:srgbClr val="000000">
                <a:alpha val="12000"/>
              </a:srgbClr>
            </a:outerShdw>
          </a:effectLst>
        </p:spPr>
      </p:sp>
      <p:sp>
        <p:nvSpPr>
          <p:cNvPr id="8" name="Step number 2"/>
          <p:cNvSpPr txBox="1"/>
          <p:nvPr/>
        </p:nvSpPr>
        <p:spPr>
          <a:xfrm>
            <a:off x="2740152" y="1335024"/>
            <a:ext cx="384048" cy="384048"/>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tx1"/>
                </a:solidFill>
              </a:rPr>
              <a:t>2</a:t>
            </a:r>
            <a:endParaRPr lang="en-US" sz="1500" dirty="0"/>
          </a:p>
        </p:txBody>
      </p:sp>
      <p:sp>
        <p:nvSpPr>
          <p:cNvPr id="9" name="Step name 2"/>
          <p:cNvSpPr txBox="1"/>
          <p:nvPr/>
        </p:nvSpPr>
        <p:spPr>
          <a:xfrm>
            <a:off x="2740152" y="1810512"/>
            <a:ext cx="1600200" cy="292608"/>
          </a:xfrm>
          <a:prstGeom prst="rect">
            <a:avLst/>
          </a:prstGeom>
          <a:noFill/>
          <a:ln/>
        </p:spPr>
        <p:txBody>
          <a:bodyPr wrap="square" lIns="0" tIns="0" rIns="0" bIns="0" rtlCol="0" anchor="ctr"/>
          <a:lstStyle/>
          <a:p>
            <a:pPr indent="0" marL="0">
              <a:buNone/>
            </a:pPr>
            <a:r>
              <a:rPr lang="en-US" sz="1600" b="1" dirty="0">
                <a:solidFill>
                  <a:schemeClr val="tx1"/>
                </a:solidFill>
              </a:rPr>
              <a:t>Issue</a:t>
            </a:r>
            <a:endParaRPr lang="en-US" sz="1600" dirty="0"/>
          </a:p>
        </p:txBody>
      </p:sp>
      <p:sp>
        <p:nvSpPr>
          <p:cNvPr id="10" name="Step description 2"/>
          <p:cNvSpPr txBox="1"/>
          <p:nvPr/>
        </p:nvSpPr>
        <p:spPr>
          <a:xfrm>
            <a:off x="2740152" y="2121408"/>
            <a:ext cx="1563624" cy="594360"/>
          </a:xfrm>
          <a:prstGeom prst="rect">
            <a:avLst/>
          </a:prstGeom>
          <a:noFill/>
          <a:ln/>
        </p:spPr>
        <p:txBody>
          <a:bodyPr wrap="square" lIns="0" tIns="0" rIns="0" bIns="0" rtlCol="0" anchor="t"/>
          <a:lstStyle/>
          <a:p>
            <a:pPr indent="0" marL="0">
              <a:buNone/>
            </a:pPr>
            <a:r>
              <a:rPr lang="en-US" sz="1200" dirty="0">
                <a:solidFill>
                  <a:schemeClr val="accent4"/>
                </a:solidFill>
              </a:rPr>
              <a:t>Cluster similar complaints into one issue (HDBSCAN)</a:t>
            </a:r>
            <a:endParaRPr lang="en-US" sz="1200" dirty="0"/>
          </a:p>
        </p:txBody>
      </p:sp>
      <p:sp>
        <p:nvSpPr>
          <p:cNvPr id="11" name="Step card 3"/>
          <p:cNvSpPr/>
          <p:nvPr/>
        </p:nvSpPr>
        <p:spPr>
          <a:xfrm>
            <a:off x="4693920" y="1188720"/>
            <a:ext cx="1874520" cy="1600200"/>
          </a:xfrm>
          <a:prstGeom prst="roundRect">
            <a:avLst>
              <a:gd name="adj" fmla="val 5714"/>
            </a:avLst>
          </a:prstGeom>
          <a:solidFill>
            <a:schemeClr val="bg1"/>
          </a:solidFill>
          <a:ln/>
          <a:effectLst>
            <a:outerShdw sx="100000" sy="100000" kx="0" ky="0" algn="bl" rotWithShape="0" blurRad="101600" dist="25400" dir="5400000">
              <a:srgbClr val="000000">
                <a:alpha val="12000"/>
              </a:srgbClr>
            </a:outerShdw>
          </a:effectLst>
        </p:spPr>
      </p:sp>
      <p:sp>
        <p:nvSpPr>
          <p:cNvPr id="12" name="Step number 3"/>
          <p:cNvSpPr txBox="1"/>
          <p:nvPr/>
        </p:nvSpPr>
        <p:spPr>
          <a:xfrm>
            <a:off x="4858512" y="1335024"/>
            <a:ext cx="384048" cy="384048"/>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tx1"/>
                </a:solidFill>
              </a:rPr>
              <a:t>3</a:t>
            </a:r>
            <a:endParaRPr lang="en-US" sz="1500" dirty="0"/>
          </a:p>
        </p:txBody>
      </p:sp>
      <p:sp>
        <p:nvSpPr>
          <p:cNvPr id="13" name="Step name 3"/>
          <p:cNvSpPr txBox="1"/>
          <p:nvPr/>
        </p:nvSpPr>
        <p:spPr>
          <a:xfrm>
            <a:off x="4858512" y="1810512"/>
            <a:ext cx="1600200" cy="292608"/>
          </a:xfrm>
          <a:prstGeom prst="rect">
            <a:avLst/>
          </a:prstGeom>
          <a:noFill/>
          <a:ln/>
        </p:spPr>
        <p:txBody>
          <a:bodyPr wrap="square" lIns="0" tIns="0" rIns="0" bIns="0" rtlCol="0" anchor="ctr"/>
          <a:lstStyle/>
          <a:p>
            <a:pPr indent="0" marL="0">
              <a:buNone/>
            </a:pPr>
            <a:r>
              <a:rPr lang="en-US" sz="1600" b="1" dirty="0">
                <a:solidFill>
                  <a:schemeClr val="tx1"/>
                </a:solidFill>
              </a:rPr>
              <a:t>Segment</a:t>
            </a:r>
            <a:endParaRPr lang="en-US" sz="1600" dirty="0"/>
          </a:p>
        </p:txBody>
      </p:sp>
      <p:sp>
        <p:nvSpPr>
          <p:cNvPr id="14" name="Step description 3"/>
          <p:cNvSpPr txBox="1"/>
          <p:nvPr/>
        </p:nvSpPr>
        <p:spPr>
          <a:xfrm>
            <a:off x="4858512" y="2121408"/>
            <a:ext cx="1563624" cy="594360"/>
          </a:xfrm>
          <a:prstGeom prst="rect">
            <a:avLst/>
          </a:prstGeom>
          <a:noFill/>
          <a:ln/>
        </p:spPr>
        <p:txBody>
          <a:bodyPr wrap="square" lIns="0" tIns="0" rIns="0" bIns="0" rtlCol="0" anchor="t"/>
          <a:lstStyle/>
          <a:p>
            <a:pPr indent="0" marL="0">
              <a:buNone/>
            </a:pPr>
            <a:r>
              <a:rPr lang="en-US" sz="1200" dirty="0">
                <a:solidFill>
                  <a:schemeClr val="accent4"/>
                </a:solidFill>
              </a:rPr>
              <a:t>Find who is hurt most: tier, platform or region</a:t>
            </a:r>
            <a:endParaRPr lang="en-US" sz="1200" dirty="0"/>
          </a:p>
        </p:txBody>
      </p:sp>
      <p:sp>
        <p:nvSpPr>
          <p:cNvPr id="15" name="Step card 4"/>
          <p:cNvSpPr/>
          <p:nvPr/>
        </p:nvSpPr>
        <p:spPr>
          <a:xfrm>
            <a:off x="6812280" y="1188720"/>
            <a:ext cx="1874520" cy="1600200"/>
          </a:xfrm>
          <a:prstGeom prst="roundRect">
            <a:avLst>
              <a:gd name="adj" fmla="val 5714"/>
            </a:avLst>
          </a:prstGeom>
          <a:solidFill>
            <a:schemeClr val="bg1"/>
          </a:solidFill>
          <a:ln/>
          <a:effectLst>
            <a:outerShdw sx="100000" sy="100000" kx="0" ky="0" algn="bl" rotWithShape="0" blurRad="101600" dist="25400" dir="5400000">
              <a:srgbClr val="000000">
                <a:alpha val="12000"/>
              </a:srgbClr>
            </a:outerShdw>
          </a:effectLst>
        </p:spPr>
      </p:sp>
      <p:sp>
        <p:nvSpPr>
          <p:cNvPr id="16" name="Step number 4"/>
          <p:cNvSpPr txBox="1"/>
          <p:nvPr/>
        </p:nvSpPr>
        <p:spPr>
          <a:xfrm>
            <a:off x="6976872" y="1335024"/>
            <a:ext cx="384048" cy="384048"/>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tx1"/>
                </a:solidFill>
              </a:rPr>
              <a:t>4</a:t>
            </a:r>
            <a:endParaRPr lang="en-US" sz="1500" dirty="0"/>
          </a:p>
        </p:txBody>
      </p:sp>
      <p:sp>
        <p:nvSpPr>
          <p:cNvPr id="17" name="Step name 4"/>
          <p:cNvSpPr txBox="1"/>
          <p:nvPr/>
        </p:nvSpPr>
        <p:spPr>
          <a:xfrm>
            <a:off x="6976872" y="1810512"/>
            <a:ext cx="1600200" cy="292608"/>
          </a:xfrm>
          <a:prstGeom prst="rect">
            <a:avLst/>
          </a:prstGeom>
          <a:noFill/>
          <a:ln/>
        </p:spPr>
        <p:txBody>
          <a:bodyPr wrap="square" lIns="0" tIns="0" rIns="0" bIns="0" rtlCol="0" anchor="ctr"/>
          <a:lstStyle/>
          <a:p>
            <a:pPr indent="0" marL="0">
              <a:buNone/>
            </a:pPr>
            <a:r>
              <a:rPr lang="en-US" sz="1600" b="1" dirty="0">
                <a:solidFill>
                  <a:schemeClr val="tx1"/>
                </a:solidFill>
              </a:rPr>
              <a:t>Root Cause</a:t>
            </a:r>
            <a:endParaRPr lang="en-US" sz="1600" dirty="0"/>
          </a:p>
        </p:txBody>
      </p:sp>
      <p:sp>
        <p:nvSpPr>
          <p:cNvPr id="18" name="Step description 4"/>
          <p:cNvSpPr txBox="1"/>
          <p:nvPr/>
        </p:nvSpPr>
        <p:spPr>
          <a:xfrm>
            <a:off x="6976872" y="2121408"/>
            <a:ext cx="1563624" cy="594360"/>
          </a:xfrm>
          <a:prstGeom prst="rect">
            <a:avLst/>
          </a:prstGeom>
          <a:noFill/>
          <a:ln/>
        </p:spPr>
        <p:txBody>
          <a:bodyPr wrap="square" lIns="0" tIns="0" rIns="0" bIns="0" rtlCol="0" anchor="t"/>
          <a:lstStyle/>
          <a:p>
            <a:pPr indent="0" marL="0">
              <a:buNone/>
            </a:pPr>
            <a:r>
              <a:rPr lang="en-US" sz="1200" dirty="0">
                <a:solidFill>
                  <a:schemeClr val="accent4"/>
                </a:solidFill>
              </a:rPr>
              <a:t>Hypotheses with evidence for and against each</a:t>
            </a:r>
            <a:endParaRPr lang="en-US" sz="1200" dirty="0"/>
          </a:p>
        </p:txBody>
      </p:sp>
      <p:sp>
        <p:nvSpPr>
          <p:cNvPr id="19" name="Step card 5"/>
          <p:cNvSpPr/>
          <p:nvPr/>
        </p:nvSpPr>
        <p:spPr>
          <a:xfrm>
            <a:off x="457200" y="2971800"/>
            <a:ext cx="1874520" cy="1600200"/>
          </a:xfrm>
          <a:prstGeom prst="roundRect">
            <a:avLst>
              <a:gd name="adj" fmla="val 5714"/>
            </a:avLst>
          </a:prstGeom>
          <a:solidFill>
            <a:schemeClr val="bg1"/>
          </a:solidFill>
          <a:ln/>
          <a:effectLst>
            <a:outerShdw sx="100000" sy="100000" kx="0" ky="0" algn="bl" rotWithShape="0" blurRad="101600" dist="25400" dir="5400000">
              <a:srgbClr val="000000">
                <a:alpha val="12000"/>
              </a:srgbClr>
            </a:outerShdw>
          </a:effectLst>
        </p:spPr>
      </p:sp>
      <p:sp>
        <p:nvSpPr>
          <p:cNvPr id="20" name="Step number 5"/>
          <p:cNvSpPr txBox="1"/>
          <p:nvPr/>
        </p:nvSpPr>
        <p:spPr>
          <a:xfrm>
            <a:off x="621792" y="3118104"/>
            <a:ext cx="384048" cy="384048"/>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tx1"/>
                </a:solidFill>
              </a:rPr>
              <a:t>5</a:t>
            </a:r>
            <a:endParaRPr lang="en-US" sz="1500" dirty="0"/>
          </a:p>
        </p:txBody>
      </p:sp>
      <p:sp>
        <p:nvSpPr>
          <p:cNvPr id="21" name="Step name 5"/>
          <p:cNvSpPr txBox="1"/>
          <p:nvPr/>
        </p:nvSpPr>
        <p:spPr>
          <a:xfrm>
            <a:off x="621792" y="3593592"/>
            <a:ext cx="1600200" cy="292608"/>
          </a:xfrm>
          <a:prstGeom prst="rect">
            <a:avLst/>
          </a:prstGeom>
          <a:noFill/>
          <a:ln/>
        </p:spPr>
        <p:txBody>
          <a:bodyPr wrap="square" lIns="0" tIns="0" rIns="0" bIns="0" rtlCol="0" anchor="ctr"/>
          <a:lstStyle/>
          <a:p>
            <a:pPr indent="0" marL="0">
              <a:buNone/>
            </a:pPr>
            <a:r>
              <a:rPr lang="en-US" sz="1600" b="1" dirty="0">
                <a:solidFill>
                  <a:schemeClr val="tx1"/>
                </a:solidFill>
              </a:rPr>
              <a:t>Impact</a:t>
            </a:r>
            <a:endParaRPr lang="en-US" sz="1600" dirty="0"/>
          </a:p>
        </p:txBody>
      </p:sp>
      <p:sp>
        <p:nvSpPr>
          <p:cNvPr id="22" name="Step description 5"/>
          <p:cNvSpPr txBox="1"/>
          <p:nvPr/>
        </p:nvSpPr>
        <p:spPr>
          <a:xfrm>
            <a:off x="621792" y="3904488"/>
            <a:ext cx="1563624" cy="594360"/>
          </a:xfrm>
          <a:prstGeom prst="rect">
            <a:avLst/>
          </a:prstGeom>
          <a:noFill/>
          <a:ln/>
        </p:spPr>
        <p:txBody>
          <a:bodyPr wrap="square" lIns="0" tIns="0" rIns="0" bIns="0" rtlCol="0" anchor="t"/>
          <a:lstStyle/>
          <a:p>
            <a:pPr indent="0" marL="0">
              <a:buNone/>
            </a:pPr>
            <a:r>
              <a:rPr lang="en-US" sz="1200" dirty="0">
                <a:solidFill>
                  <a:schemeClr val="accent4"/>
                </a:solidFill>
              </a:rPr>
              <a:t>Revenue at risk, churn probability and refund cost</a:t>
            </a:r>
            <a:endParaRPr lang="en-US" sz="1200" dirty="0"/>
          </a:p>
        </p:txBody>
      </p:sp>
      <p:sp>
        <p:nvSpPr>
          <p:cNvPr id="23" name="Step card 6"/>
          <p:cNvSpPr/>
          <p:nvPr/>
        </p:nvSpPr>
        <p:spPr>
          <a:xfrm>
            <a:off x="2575560" y="2971800"/>
            <a:ext cx="1874520" cy="1600200"/>
          </a:xfrm>
          <a:prstGeom prst="roundRect">
            <a:avLst>
              <a:gd name="adj" fmla="val 5714"/>
            </a:avLst>
          </a:prstGeom>
          <a:solidFill>
            <a:schemeClr val="bg1"/>
          </a:solidFill>
          <a:ln/>
          <a:effectLst>
            <a:outerShdw sx="100000" sy="100000" kx="0" ky="0" algn="bl" rotWithShape="0" blurRad="101600" dist="25400" dir="5400000">
              <a:srgbClr val="000000">
                <a:alpha val="12000"/>
              </a:srgbClr>
            </a:outerShdw>
          </a:effectLst>
        </p:spPr>
      </p:sp>
      <p:sp>
        <p:nvSpPr>
          <p:cNvPr id="24" name="Step number 6"/>
          <p:cNvSpPr txBox="1"/>
          <p:nvPr/>
        </p:nvSpPr>
        <p:spPr>
          <a:xfrm>
            <a:off x="2740152" y="3118104"/>
            <a:ext cx="384048" cy="384048"/>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tx1"/>
                </a:solidFill>
              </a:rPr>
              <a:t>6</a:t>
            </a:r>
            <a:endParaRPr lang="en-US" sz="1500" dirty="0"/>
          </a:p>
        </p:txBody>
      </p:sp>
      <p:sp>
        <p:nvSpPr>
          <p:cNvPr id="25" name="Step name 6"/>
          <p:cNvSpPr txBox="1"/>
          <p:nvPr/>
        </p:nvSpPr>
        <p:spPr>
          <a:xfrm>
            <a:off x="2740152" y="3593592"/>
            <a:ext cx="1600200" cy="292608"/>
          </a:xfrm>
          <a:prstGeom prst="rect">
            <a:avLst/>
          </a:prstGeom>
          <a:noFill/>
          <a:ln/>
        </p:spPr>
        <p:txBody>
          <a:bodyPr wrap="square" lIns="0" tIns="0" rIns="0" bIns="0" rtlCol="0" anchor="ctr"/>
          <a:lstStyle/>
          <a:p>
            <a:pPr indent="0" marL="0">
              <a:buNone/>
            </a:pPr>
            <a:r>
              <a:rPr lang="en-US" sz="1600" b="1" dirty="0">
                <a:solidFill>
                  <a:schemeClr val="tx1"/>
                </a:solidFill>
              </a:rPr>
              <a:t>Intervention</a:t>
            </a:r>
            <a:endParaRPr lang="en-US" sz="1600" dirty="0"/>
          </a:p>
        </p:txBody>
      </p:sp>
      <p:sp>
        <p:nvSpPr>
          <p:cNvPr id="26" name="Step description 6"/>
          <p:cNvSpPr txBox="1"/>
          <p:nvPr/>
        </p:nvSpPr>
        <p:spPr>
          <a:xfrm>
            <a:off x="2740152" y="3904488"/>
            <a:ext cx="1563624" cy="594360"/>
          </a:xfrm>
          <a:prstGeom prst="rect">
            <a:avLst/>
          </a:prstGeom>
          <a:noFill/>
          <a:ln/>
        </p:spPr>
        <p:txBody>
          <a:bodyPr wrap="square" lIns="0" tIns="0" rIns="0" bIns="0" rtlCol="0" anchor="t"/>
          <a:lstStyle/>
          <a:p>
            <a:pPr indent="0" marL="0">
              <a:buNone/>
            </a:pPr>
            <a:r>
              <a:rPr lang="en-US" sz="1200" dirty="0">
                <a:solidFill>
                  <a:schemeClr val="accent4"/>
                </a:solidFill>
              </a:rPr>
              <a:t>Ranked fix options: reroute, credit or roll back</a:t>
            </a:r>
            <a:endParaRPr lang="en-US" sz="1200" dirty="0"/>
          </a:p>
        </p:txBody>
      </p:sp>
      <p:sp>
        <p:nvSpPr>
          <p:cNvPr id="27" name="Step card 7"/>
          <p:cNvSpPr/>
          <p:nvPr/>
        </p:nvSpPr>
        <p:spPr>
          <a:xfrm>
            <a:off x="4693920" y="2971800"/>
            <a:ext cx="1874520" cy="1600200"/>
          </a:xfrm>
          <a:prstGeom prst="roundRect">
            <a:avLst>
              <a:gd name="adj" fmla="val 5714"/>
            </a:avLst>
          </a:prstGeom>
          <a:solidFill>
            <a:schemeClr val="bg1"/>
          </a:solidFill>
          <a:ln/>
          <a:effectLst>
            <a:outerShdw sx="100000" sy="100000" kx="0" ky="0" algn="bl" rotWithShape="0" blurRad="101600" dist="25400" dir="5400000">
              <a:srgbClr val="000000">
                <a:alpha val="12000"/>
              </a:srgbClr>
            </a:outerShdw>
          </a:effectLst>
        </p:spPr>
      </p:sp>
      <p:sp>
        <p:nvSpPr>
          <p:cNvPr id="28" name="Step number 7"/>
          <p:cNvSpPr txBox="1"/>
          <p:nvPr/>
        </p:nvSpPr>
        <p:spPr>
          <a:xfrm>
            <a:off x="4858512" y="3118104"/>
            <a:ext cx="384048" cy="384048"/>
          </a:xfrm>
          <a:prstGeom prst="ellipse">
            <a:avLst/>
          </a:prstGeom>
          <a:solidFill>
            <a:schemeClr val="accent2"/>
          </a:solidFill>
          <a:ln/>
        </p:spPr>
        <p:txBody>
          <a:bodyPr wrap="square" lIns="0" tIns="0" rIns="0" bIns="0" rtlCol="0" anchor="ctr"/>
          <a:lstStyle/>
          <a:p>
            <a:pPr algn="ctr" indent="0" marL="0">
              <a:buNone/>
            </a:pPr>
            <a:r>
              <a:rPr lang="en-US" sz="1500" b="1" dirty="0">
                <a:solidFill>
                  <a:schemeClr val="tx1"/>
                </a:solidFill>
              </a:rPr>
              <a:t>7</a:t>
            </a:r>
            <a:endParaRPr lang="en-US" sz="1500" dirty="0"/>
          </a:p>
        </p:txBody>
      </p:sp>
      <p:sp>
        <p:nvSpPr>
          <p:cNvPr id="29" name="Human tag"/>
          <p:cNvSpPr txBox="1"/>
          <p:nvPr/>
        </p:nvSpPr>
        <p:spPr>
          <a:xfrm>
            <a:off x="5608320" y="3154680"/>
            <a:ext cx="822960" cy="274320"/>
          </a:xfrm>
          <a:prstGeom prst="rect">
            <a:avLst/>
          </a:prstGeom>
          <a:noFill/>
          <a:ln/>
        </p:spPr>
        <p:txBody>
          <a:bodyPr wrap="square" lIns="0" tIns="0" rIns="0" bIns="0" rtlCol="0" anchor="ctr"/>
          <a:lstStyle/>
          <a:p>
            <a:pPr algn="r" indent="0" marL="0">
              <a:buNone/>
            </a:pPr>
            <a:r>
              <a:rPr lang="en-US" sz="1000" b="1" spc="200" kern="0" dirty="0">
                <a:solidFill>
                  <a:schemeClr val="accent2"/>
                </a:solidFill>
              </a:rPr>
              <a:t>HUMAN</a:t>
            </a:r>
            <a:endParaRPr lang="en-US" sz="1000" dirty="0"/>
          </a:p>
        </p:txBody>
      </p:sp>
      <p:sp>
        <p:nvSpPr>
          <p:cNvPr id="30" name="Step name 7"/>
          <p:cNvSpPr txBox="1"/>
          <p:nvPr/>
        </p:nvSpPr>
        <p:spPr>
          <a:xfrm>
            <a:off x="4858512" y="3593592"/>
            <a:ext cx="1600200" cy="292608"/>
          </a:xfrm>
          <a:prstGeom prst="rect">
            <a:avLst/>
          </a:prstGeom>
          <a:noFill/>
          <a:ln/>
        </p:spPr>
        <p:txBody>
          <a:bodyPr wrap="square" lIns="0" tIns="0" rIns="0" bIns="0" rtlCol="0" anchor="ctr"/>
          <a:lstStyle/>
          <a:p>
            <a:pPr indent="0" marL="0">
              <a:buNone/>
            </a:pPr>
            <a:r>
              <a:rPr lang="en-US" sz="1600" b="1" dirty="0">
                <a:solidFill>
                  <a:schemeClr val="tx1"/>
                </a:solidFill>
              </a:rPr>
              <a:t>Execution</a:t>
            </a:r>
            <a:endParaRPr lang="en-US" sz="1600" dirty="0"/>
          </a:p>
        </p:txBody>
      </p:sp>
      <p:sp>
        <p:nvSpPr>
          <p:cNvPr id="31" name="Step description 7"/>
          <p:cNvSpPr txBox="1"/>
          <p:nvPr/>
        </p:nvSpPr>
        <p:spPr>
          <a:xfrm>
            <a:off x="4858512" y="3904488"/>
            <a:ext cx="1563624" cy="594360"/>
          </a:xfrm>
          <a:prstGeom prst="rect">
            <a:avLst/>
          </a:prstGeom>
          <a:noFill/>
          <a:ln/>
        </p:spPr>
        <p:txBody>
          <a:bodyPr wrap="square" lIns="0" tIns="0" rIns="0" bIns="0" rtlCol="0" anchor="t"/>
          <a:lstStyle/>
          <a:p>
            <a:pPr indent="0" marL="0">
              <a:buNone/>
            </a:pPr>
            <a:r>
              <a:rPr lang="en-US" sz="1200" dirty="0">
                <a:solidFill>
                  <a:schemeClr val="accent4"/>
                </a:solidFill>
              </a:rPr>
              <a:t>A manager approves; the system runs the API actions</a:t>
            </a:r>
            <a:endParaRPr lang="en-US" sz="1200" dirty="0"/>
          </a:p>
        </p:txBody>
      </p:sp>
      <p:sp>
        <p:nvSpPr>
          <p:cNvPr id="32" name="Step card 8"/>
          <p:cNvSpPr/>
          <p:nvPr/>
        </p:nvSpPr>
        <p:spPr>
          <a:xfrm>
            <a:off x="6812280" y="2971800"/>
            <a:ext cx="1874520" cy="1600200"/>
          </a:xfrm>
          <a:prstGeom prst="roundRect">
            <a:avLst>
              <a:gd name="adj" fmla="val 5714"/>
            </a:avLst>
          </a:prstGeom>
          <a:solidFill>
            <a:schemeClr val="bg1"/>
          </a:solidFill>
          <a:ln/>
          <a:effectLst>
            <a:outerShdw sx="100000" sy="100000" kx="0" ky="0" algn="bl" rotWithShape="0" blurRad="101600" dist="25400" dir="5400000">
              <a:srgbClr val="000000">
                <a:alpha val="12000"/>
              </a:srgbClr>
            </a:outerShdw>
          </a:effectLst>
        </p:spPr>
      </p:sp>
      <p:sp>
        <p:nvSpPr>
          <p:cNvPr id="33" name="Step number 8"/>
          <p:cNvSpPr txBox="1"/>
          <p:nvPr/>
        </p:nvSpPr>
        <p:spPr>
          <a:xfrm>
            <a:off x="6976872" y="3118104"/>
            <a:ext cx="384048" cy="384048"/>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tx1"/>
                </a:solidFill>
              </a:rPr>
              <a:t>8</a:t>
            </a:r>
            <a:endParaRPr lang="en-US" sz="1500" dirty="0"/>
          </a:p>
        </p:txBody>
      </p:sp>
      <p:sp>
        <p:nvSpPr>
          <p:cNvPr id="34" name="Step name 8"/>
          <p:cNvSpPr txBox="1"/>
          <p:nvPr/>
        </p:nvSpPr>
        <p:spPr>
          <a:xfrm>
            <a:off x="6976872" y="3593592"/>
            <a:ext cx="1600200" cy="292608"/>
          </a:xfrm>
          <a:prstGeom prst="rect">
            <a:avLst/>
          </a:prstGeom>
          <a:noFill/>
          <a:ln/>
        </p:spPr>
        <p:txBody>
          <a:bodyPr wrap="square" lIns="0" tIns="0" rIns="0" bIns="0" rtlCol="0" anchor="ctr"/>
          <a:lstStyle/>
          <a:p>
            <a:pPr indent="0" marL="0">
              <a:buNone/>
            </a:pPr>
            <a:r>
              <a:rPr lang="en-US" sz="1600" b="1" dirty="0">
                <a:solidFill>
                  <a:schemeClr val="tx1"/>
                </a:solidFill>
              </a:rPr>
              <a:t>Verification</a:t>
            </a:r>
            <a:endParaRPr lang="en-US" sz="1600" dirty="0"/>
          </a:p>
        </p:txBody>
      </p:sp>
      <p:sp>
        <p:nvSpPr>
          <p:cNvPr id="35" name="Step description 8"/>
          <p:cNvSpPr txBox="1"/>
          <p:nvPr/>
        </p:nvSpPr>
        <p:spPr>
          <a:xfrm>
            <a:off x="6976872" y="3904488"/>
            <a:ext cx="1563624" cy="594360"/>
          </a:xfrm>
          <a:prstGeom prst="rect">
            <a:avLst/>
          </a:prstGeom>
          <a:noFill/>
          <a:ln/>
        </p:spPr>
        <p:txBody>
          <a:bodyPr wrap="square" lIns="0" tIns="0" rIns="0" bIns="0" rtlCol="0" anchor="t"/>
          <a:lstStyle/>
          <a:p>
            <a:pPr indent="0" marL="0">
              <a:buNone/>
            </a:pPr>
            <a:r>
              <a:rPr lang="en-US" sz="1200" dirty="0">
                <a:solidFill>
                  <a:schemeClr val="accent4"/>
                </a:solidFill>
              </a:rPr>
              <a:t>Tracks live metrics for 24-48 h; re-opens if not fixed</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ctr"/>
          <a:lstStyle/>
          <a:p>
            <a:pPr algn="l" indent="0" marL="0">
              <a:buNone/>
            </a:pPr>
            <a:r>
              <a:rPr lang="en-US" sz="3400" b="1" dirty="0">
                <a:solidFill>
                  <a:schemeClr val="tx1"/>
                </a:solidFill>
              </a:rPr>
              <a:t>What makes it different</a:t>
            </a:r>
            <a:endParaRPr lang="en-US" sz="3400" dirty="0"/>
          </a:p>
        </p:txBody>
      </p:sp>
      <p:sp>
        <p:nvSpPr>
          <p:cNvPr id="3" name="Feature card 1"/>
          <p:cNvSpPr/>
          <p:nvPr/>
        </p:nvSpPr>
        <p:spPr>
          <a:xfrm>
            <a:off x="457200" y="1234440"/>
            <a:ext cx="4023360" cy="1005840"/>
          </a:xfrm>
          <a:prstGeom prst="roundRect">
            <a:avLst>
              <a:gd name="adj" fmla="val 9091"/>
            </a:avLst>
          </a:prstGeom>
          <a:solidFill>
            <a:schemeClr val="bg2"/>
          </a:solidFill>
          <a:ln/>
        </p:spPr>
      </p:sp>
      <p:sp>
        <p:nvSpPr>
          <p:cNvPr id="4" name="Feature icon circle 1"/>
          <p:cNvSpPr/>
          <p:nvPr/>
        </p:nvSpPr>
        <p:spPr>
          <a:xfrm>
            <a:off x="640080" y="1463040"/>
            <a:ext cx="548640" cy="548640"/>
          </a:xfrm>
          <a:prstGeom prst="ellipse">
            <a:avLst/>
          </a:prstGeom>
          <a:solidFill>
            <a:schemeClr val="tx1"/>
          </a:solidFill>
          <a:ln/>
        </p:spPr>
      </p:sp>
      <p:pic>
        <p:nvPicPr>
          <p:cNvPr id="5" name="Feature icon 1" descr="Evidence graph icon">    </p:cNvPr>
          <p:cNvPicPr>
            <a:picLocks noChangeAspect="1"/>
          </p:cNvPicPr>
          <p:nvPr/>
        </p:nvPicPr>
        <p:blipFill>
          <a:blip r:embed="rId1"/>
          <a:stretch>
            <a:fillRect/>
          </a:stretch>
        </p:blipFill>
        <p:spPr>
          <a:xfrm>
            <a:off x="786384" y="1609344"/>
            <a:ext cx="256032" cy="256032"/>
          </a:xfrm>
          <a:prstGeom prst="rect">
            <a:avLst/>
          </a:prstGeom>
        </p:spPr>
      </p:pic>
      <p:sp>
        <p:nvSpPr>
          <p:cNvPr id="6" name="Feature title 1"/>
          <p:cNvSpPr txBox="1"/>
          <p:nvPr/>
        </p:nvSpPr>
        <p:spPr>
          <a:xfrm>
            <a:off x="1325880" y="1344168"/>
            <a:ext cx="3017520" cy="320040"/>
          </a:xfrm>
          <a:prstGeom prst="rect">
            <a:avLst/>
          </a:prstGeom>
          <a:noFill/>
          <a:ln/>
        </p:spPr>
        <p:txBody>
          <a:bodyPr wrap="square" lIns="0" tIns="0" rIns="0" bIns="0" rtlCol="0" anchor="ctr"/>
          <a:lstStyle/>
          <a:p>
            <a:pPr indent="0" marL="0">
              <a:buNone/>
            </a:pPr>
            <a:r>
              <a:rPr lang="en-US" sz="1600" b="1" dirty="0">
                <a:solidFill>
                  <a:schemeClr val="tx1"/>
                </a:solidFill>
              </a:rPr>
              <a:t>Evidence graph</a:t>
            </a:r>
            <a:endParaRPr lang="en-US" sz="1600" dirty="0"/>
          </a:p>
        </p:txBody>
      </p:sp>
      <p:sp>
        <p:nvSpPr>
          <p:cNvPr id="7" name="Feature text 1"/>
          <p:cNvSpPr txBox="1"/>
          <p:nvPr/>
        </p:nvSpPr>
        <p:spPr>
          <a:xfrm>
            <a:off x="1325880" y="1691640"/>
            <a:ext cx="3017520" cy="475488"/>
          </a:xfrm>
          <a:prstGeom prst="rect">
            <a:avLst/>
          </a:prstGeom>
          <a:noFill/>
          <a:ln/>
        </p:spPr>
        <p:txBody>
          <a:bodyPr wrap="square" lIns="0" tIns="0" rIns="0" bIns="0" rtlCol="0" anchor="t"/>
          <a:lstStyle/>
          <a:p>
            <a:pPr indent="0" marL="0">
              <a:buNone/>
            </a:pPr>
            <a:r>
              <a:rPr lang="en-US" sz="1200" dirty="0">
                <a:solidFill>
                  <a:schemeClr val="accent4"/>
                </a:solidFill>
              </a:rPr>
              <a:t>Each root cause links to logs, releases and metrics in a causal graph</a:t>
            </a:r>
            <a:endParaRPr lang="en-US" sz="1200" dirty="0"/>
          </a:p>
        </p:txBody>
      </p:sp>
      <p:sp>
        <p:nvSpPr>
          <p:cNvPr id="8" name="Feature card 2"/>
          <p:cNvSpPr/>
          <p:nvPr/>
        </p:nvSpPr>
        <p:spPr>
          <a:xfrm>
            <a:off x="4663440" y="1234440"/>
            <a:ext cx="4023360" cy="1005840"/>
          </a:xfrm>
          <a:prstGeom prst="roundRect">
            <a:avLst>
              <a:gd name="adj" fmla="val 9091"/>
            </a:avLst>
          </a:prstGeom>
          <a:solidFill>
            <a:schemeClr val="bg2"/>
          </a:solidFill>
          <a:ln/>
        </p:spPr>
      </p:sp>
      <p:sp>
        <p:nvSpPr>
          <p:cNvPr id="9" name="Feature icon circle 2"/>
          <p:cNvSpPr/>
          <p:nvPr/>
        </p:nvSpPr>
        <p:spPr>
          <a:xfrm>
            <a:off x="4846320" y="1463040"/>
            <a:ext cx="548640" cy="548640"/>
          </a:xfrm>
          <a:prstGeom prst="ellipse">
            <a:avLst/>
          </a:prstGeom>
          <a:solidFill>
            <a:schemeClr val="tx1"/>
          </a:solidFill>
          <a:ln/>
        </p:spPr>
      </p:sp>
      <p:pic>
        <p:nvPicPr>
          <p:cNvPr id="10" name="Feature icon 2" descr="Counter-evidence icon">    </p:cNvPr>
          <p:cNvPicPr>
            <a:picLocks noChangeAspect="1"/>
          </p:cNvPicPr>
          <p:nvPr/>
        </p:nvPicPr>
        <p:blipFill>
          <a:blip r:embed="rId2"/>
          <a:stretch>
            <a:fillRect/>
          </a:stretch>
        </p:blipFill>
        <p:spPr>
          <a:xfrm>
            <a:off x="4992624" y="1609344"/>
            <a:ext cx="256032" cy="256032"/>
          </a:xfrm>
          <a:prstGeom prst="rect">
            <a:avLst/>
          </a:prstGeom>
        </p:spPr>
      </p:pic>
      <p:sp>
        <p:nvSpPr>
          <p:cNvPr id="11" name="Feature title 2"/>
          <p:cNvSpPr txBox="1"/>
          <p:nvPr/>
        </p:nvSpPr>
        <p:spPr>
          <a:xfrm>
            <a:off x="5532120" y="1344168"/>
            <a:ext cx="3017520" cy="320040"/>
          </a:xfrm>
          <a:prstGeom prst="rect">
            <a:avLst/>
          </a:prstGeom>
          <a:noFill/>
          <a:ln/>
        </p:spPr>
        <p:txBody>
          <a:bodyPr wrap="square" lIns="0" tIns="0" rIns="0" bIns="0" rtlCol="0" anchor="ctr"/>
          <a:lstStyle/>
          <a:p>
            <a:pPr indent="0" marL="0">
              <a:buNone/>
            </a:pPr>
            <a:r>
              <a:rPr lang="en-US" sz="1600" b="1" dirty="0">
                <a:solidFill>
                  <a:schemeClr val="tx1"/>
                </a:solidFill>
              </a:rPr>
              <a:t>Counter-evidence</a:t>
            </a:r>
            <a:endParaRPr lang="en-US" sz="1600" dirty="0"/>
          </a:p>
        </p:txBody>
      </p:sp>
      <p:sp>
        <p:nvSpPr>
          <p:cNvPr id="12" name="Feature text 2"/>
          <p:cNvSpPr txBox="1"/>
          <p:nvPr/>
        </p:nvSpPr>
        <p:spPr>
          <a:xfrm>
            <a:off x="5532120" y="1691640"/>
            <a:ext cx="3017520" cy="475488"/>
          </a:xfrm>
          <a:prstGeom prst="rect">
            <a:avLst/>
          </a:prstGeom>
          <a:noFill/>
          <a:ln/>
        </p:spPr>
        <p:txBody>
          <a:bodyPr wrap="square" lIns="0" tIns="0" rIns="0" bIns="0" rtlCol="0" anchor="t"/>
          <a:lstStyle/>
          <a:p>
            <a:pPr indent="0" marL="0">
              <a:buNone/>
            </a:pPr>
            <a:r>
              <a:rPr lang="en-US" sz="1200" dirty="0">
                <a:solidFill>
                  <a:schemeClr val="accent4"/>
                </a:solidFill>
              </a:rPr>
              <a:t>Rival explanations are scored, so sentiment is never treated as proof</a:t>
            </a:r>
            <a:endParaRPr lang="en-US" sz="1200" dirty="0"/>
          </a:p>
        </p:txBody>
      </p:sp>
      <p:sp>
        <p:nvSpPr>
          <p:cNvPr id="13" name="Feature card 3"/>
          <p:cNvSpPr/>
          <p:nvPr/>
        </p:nvSpPr>
        <p:spPr>
          <a:xfrm>
            <a:off x="457200" y="2377440"/>
            <a:ext cx="4023360" cy="1005840"/>
          </a:xfrm>
          <a:prstGeom prst="roundRect">
            <a:avLst>
              <a:gd name="adj" fmla="val 9091"/>
            </a:avLst>
          </a:prstGeom>
          <a:solidFill>
            <a:schemeClr val="bg2"/>
          </a:solidFill>
          <a:ln/>
        </p:spPr>
      </p:sp>
      <p:sp>
        <p:nvSpPr>
          <p:cNvPr id="14" name="Feature icon circle 3"/>
          <p:cNvSpPr/>
          <p:nvPr/>
        </p:nvSpPr>
        <p:spPr>
          <a:xfrm>
            <a:off x="640080" y="2606040"/>
            <a:ext cx="548640" cy="548640"/>
          </a:xfrm>
          <a:prstGeom prst="ellipse">
            <a:avLst/>
          </a:prstGeom>
          <a:solidFill>
            <a:schemeClr val="tx1"/>
          </a:solidFill>
          <a:ln/>
        </p:spPr>
      </p:sp>
      <p:pic>
        <p:nvPicPr>
          <p:cNvPr id="15" name="Feature icon 3" descr="Segment-level impact icon">    </p:cNvPr>
          <p:cNvPicPr>
            <a:picLocks noChangeAspect="1"/>
          </p:cNvPicPr>
          <p:nvPr/>
        </p:nvPicPr>
        <p:blipFill>
          <a:blip r:embed="rId3"/>
          <a:stretch>
            <a:fillRect/>
          </a:stretch>
        </p:blipFill>
        <p:spPr>
          <a:xfrm>
            <a:off x="786384" y="2752344"/>
            <a:ext cx="256032" cy="256032"/>
          </a:xfrm>
          <a:prstGeom prst="rect">
            <a:avLst/>
          </a:prstGeom>
        </p:spPr>
      </p:pic>
      <p:sp>
        <p:nvSpPr>
          <p:cNvPr id="16" name="Feature title 3"/>
          <p:cNvSpPr txBox="1"/>
          <p:nvPr/>
        </p:nvSpPr>
        <p:spPr>
          <a:xfrm>
            <a:off x="1325880" y="2487168"/>
            <a:ext cx="3017520" cy="320040"/>
          </a:xfrm>
          <a:prstGeom prst="rect">
            <a:avLst/>
          </a:prstGeom>
          <a:noFill/>
          <a:ln/>
        </p:spPr>
        <p:txBody>
          <a:bodyPr wrap="square" lIns="0" tIns="0" rIns="0" bIns="0" rtlCol="0" anchor="ctr"/>
          <a:lstStyle/>
          <a:p>
            <a:pPr indent="0" marL="0">
              <a:buNone/>
            </a:pPr>
            <a:r>
              <a:rPr lang="en-US" sz="1600" b="1" dirty="0">
                <a:solidFill>
                  <a:schemeClr val="tx1"/>
                </a:solidFill>
              </a:rPr>
              <a:t>Segment-level impact</a:t>
            </a:r>
            <a:endParaRPr lang="en-US" sz="1600" dirty="0"/>
          </a:p>
        </p:txBody>
      </p:sp>
      <p:sp>
        <p:nvSpPr>
          <p:cNvPr id="17" name="Feature text 3"/>
          <p:cNvSpPr txBox="1"/>
          <p:nvPr/>
        </p:nvSpPr>
        <p:spPr>
          <a:xfrm>
            <a:off x="1325880" y="2834640"/>
            <a:ext cx="3017520" cy="475488"/>
          </a:xfrm>
          <a:prstGeom prst="rect">
            <a:avLst/>
          </a:prstGeom>
          <a:noFill/>
          <a:ln/>
        </p:spPr>
        <p:txBody>
          <a:bodyPr wrap="square" lIns="0" tIns="0" rIns="0" bIns="0" rtlCol="0" anchor="t"/>
          <a:lstStyle/>
          <a:p>
            <a:pPr indent="0" marL="0">
              <a:buNone/>
            </a:pPr>
            <a:r>
              <a:rPr lang="en-US" sz="1200" dirty="0">
                <a:solidFill>
                  <a:schemeClr val="accent4"/>
                </a:solidFill>
              </a:rPr>
              <a:t>Shows who is hurt most: VIP users, Android app users, a region</a:t>
            </a:r>
            <a:endParaRPr lang="en-US" sz="1200" dirty="0"/>
          </a:p>
        </p:txBody>
      </p:sp>
      <p:sp>
        <p:nvSpPr>
          <p:cNvPr id="18" name="Feature card 4"/>
          <p:cNvSpPr/>
          <p:nvPr/>
        </p:nvSpPr>
        <p:spPr>
          <a:xfrm>
            <a:off x="4663440" y="2377440"/>
            <a:ext cx="4023360" cy="1005840"/>
          </a:xfrm>
          <a:prstGeom prst="roundRect">
            <a:avLst>
              <a:gd name="adj" fmla="val 9091"/>
            </a:avLst>
          </a:prstGeom>
          <a:solidFill>
            <a:schemeClr val="bg2"/>
          </a:solidFill>
          <a:ln/>
        </p:spPr>
      </p:sp>
      <p:sp>
        <p:nvSpPr>
          <p:cNvPr id="19" name="Feature icon circle 4"/>
          <p:cNvSpPr/>
          <p:nvPr/>
        </p:nvSpPr>
        <p:spPr>
          <a:xfrm>
            <a:off x="4846320" y="2606040"/>
            <a:ext cx="548640" cy="548640"/>
          </a:xfrm>
          <a:prstGeom prst="ellipse">
            <a:avLst/>
          </a:prstGeom>
          <a:solidFill>
            <a:schemeClr val="tx1"/>
          </a:solidFill>
          <a:ln/>
        </p:spPr>
      </p:sp>
      <p:pic>
        <p:nvPicPr>
          <p:cNvPr id="20" name="Feature icon 4" descr="Money and risk icon">    </p:cNvPr>
          <p:cNvPicPr>
            <a:picLocks noChangeAspect="1"/>
          </p:cNvPicPr>
          <p:nvPr/>
        </p:nvPicPr>
        <p:blipFill>
          <a:blip r:embed="rId4"/>
          <a:stretch>
            <a:fillRect/>
          </a:stretch>
        </p:blipFill>
        <p:spPr>
          <a:xfrm>
            <a:off x="4992624" y="2752344"/>
            <a:ext cx="256032" cy="256032"/>
          </a:xfrm>
          <a:prstGeom prst="rect">
            <a:avLst/>
          </a:prstGeom>
        </p:spPr>
      </p:pic>
      <p:sp>
        <p:nvSpPr>
          <p:cNvPr id="21" name="Feature title 4"/>
          <p:cNvSpPr txBox="1"/>
          <p:nvPr/>
        </p:nvSpPr>
        <p:spPr>
          <a:xfrm>
            <a:off x="5532120" y="2487168"/>
            <a:ext cx="3017520" cy="320040"/>
          </a:xfrm>
          <a:prstGeom prst="rect">
            <a:avLst/>
          </a:prstGeom>
          <a:noFill/>
          <a:ln/>
        </p:spPr>
        <p:txBody>
          <a:bodyPr wrap="square" lIns="0" tIns="0" rIns="0" bIns="0" rtlCol="0" anchor="ctr"/>
          <a:lstStyle/>
          <a:p>
            <a:pPr indent="0" marL="0">
              <a:buNone/>
            </a:pPr>
            <a:r>
              <a:rPr lang="en-US" sz="1600" b="1" dirty="0">
                <a:solidFill>
                  <a:schemeClr val="tx1"/>
                </a:solidFill>
              </a:rPr>
              <a:t>Money and risk</a:t>
            </a:r>
            <a:endParaRPr lang="en-US" sz="1600" dirty="0"/>
          </a:p>
        </p:txBody>
      </p:sp>
      <p:sp>
        <p:nvSpPr>
          <p:cNvPr id="22" name="Feature text 4"/>
          <p:cNvSpPr txBox="1"/>
          <p:nvPr/>
        </p:nvSpPr>
        <p:spPr>
          <a:xfrm>
            <a:off x="5532120" y="2834640"/>
            <a:ext cx="3017520" cy="475488"/>
          </a:xfrm>
          <a:prstGeom prst="rect">
            <a:avLst/>
          </a:prstGeom>
          <a:noFill/>
          <a:ln/>
        </p:spPr>
        <p:txBody>
          <a:bodyPr wrap="square" lIns="0" tIns="0" rIns="0" bIns="0" rtlCol="0" anchor="t"/>
          <a:lstStyle/>
          <a:p>
            <a:pPr indent="0" marL="0">
              <a:buNone/>
            </a:pPr>
            <a:r>
              <a:rPr lang="en-US" sz="1200" dirty="0">
                <a:solidFill>
                  <a:schemeClr val="accent4"/>
                </a:solidFill>
              </a:rPr>
              <a:t>Revenue at risk, churn probability and refund amounts per issue</a:t>
            </a:r>
            <a:endParaRPr lang="en-US" sz="1200" dirty="0"/>
          </a:p>
        </p:txBody>
      </p:sp>
      <p:sp>
        <p:nvSpPr>
          <p:cNvPr id="23" name="Feature card 5"/>
          <p:cNvSpPr/>
          <p:nvPr/>
        </p:nvSpPr>
        <p:spPr>
          <a:xfrm>
            <a:off x="457200" y="3520440"/>
            <a:ext cx="4023360" cy="1005840"/>
          </a:xfrm>
          <a:prstGeom prst="roundRect">
            <a:avLst>
              <a:gd name="adj" fmla="val 9091"/>
            </a:avLst>
          </a:prstGeom>
          <a:solidFill>
            <a:schemeClr val="bg2"/>
          </a:solidFill>
          <a:ln/>
        </p:spPr>
      </p:sp>
      <p:sp>
        <p:nvSpPr>
          <p:cNvPr id="24" name="Feature icon circle 5"/>
          <p:cNvSpPr/>
          <p:nvPr/>
        </p:nvSpPr>
        <p:spPr>
          <a:xfrm>
            <a:off x="640080" y="3749040"/>
            <a:ext cx="548640" cy="548640"/>
          </a:xfrm>
          <a:prstGeom prst="ellipse">
            <a:avLst/>
          </a:prstGeom>
          <a:solidFill>
            <a:schemeClr val="tx1"/>
          </a:solidFill>
          <a:ln/>
        </p:spPr>
      </p:sp>
      <p:pic>
        <p:nvPicPr>
          <p:cNvPr id="25" name="Feature icon 5" descr="Human-approved action icon">    </p:cNvPr>
          <p:cNvPicPr>
            <a:picLocks noChangeAspect="1"/>
          </p:cNvPicPr>
          <p:nvPr/>
        </p:nvPicPr>
        <p:blipFill>
          <a:blip r:embed="rId5"/>
          <a:stretch>
            <a:fillRect/>
          </a:stretch>
        </p:blipFill>
        <p:spPr>
          <a:xfrm>
            <a:off x="786384" y="3895344"/>
            <a:ext cx="256032" cy="256032"/>
          </a:xfrm>
          <a:prstGeom prst="rect">
            <a:avLst/>
          </a:prstGeom>
        </p:spPr>
      </p:pic>
      <p:sp>
        <p:nvSpPr>
          <p:cNvPr id="26" name="Feature title 5"/>
          <p:cNvSpPr txBox="1"/>
          <p:nvPr/>
        </p:nvSpPr>
        <p:spPr>
          <a:xfrm>
            <a:off x="1325880" y="3630168"/>
            <a:ext cx="3017520" cy="320040"/>
          </a:xfrm>
          <a:prstGeom prst="rect">
            <a:avLst/>
          </a:prstGeom>
          <a:noFill/>
          <a:ln/>
        </p:spPr>
        <p:txBody>
          <a:bodyPr wrap="square" lIns="0" tIns="0" rIns="0" bIns="0" rtlCol="0" anchor="ctr"/>
          <a:lstStyle/>
          <a:p>
            <a:pPr indent="0" marL="0">
              <a:buNone/>
            </a:pPr>
            <a:r>
              <a:rPr lang="en-US" sz="1600" b="1" dirty="0">
                <a:solidFill>
                  <a:schemeClr val="tx1"/>
                </a:solidFill>
              </a:rPr>
              <a:t>Human-approved action</a:t>
            </a:r>
            <a:endParaRPr lang="en-US" sz="1600" dirty="0"/>
          </a:p>
        </p:txBody>
      </p:sp>
      <p:sp>
        <p:nvSpPr>
          <p:cNvPr id="27" name="Feature text 5"/>
          <p:cNvSpPr txBox="1"/>
          <p:nvPr/>
        </p:nvSpPr>
        <p:spPr>
          <a:xfrm>
            <a:off x="1325880" y="3977640"/>
            <a:ext cx="3017520" cy="475488"/>
          </a:xfrm>
          <a:prstGeom prst="rect">
            <a:avLst/>
          </a:prstGeom>
          <a:noFill/>
          <a:ln/>
        </p:spPr>
        <p:txBody>
          <a:bodyPr wrap="square" lIns="0" tIns="0" rIns="0" bIns="0" rtlCol="0" anchor="t"/>
          <a:lstStyle/>
          <a:p>
            <a:pPr indent="0" marL="0">
              <a:buNone/>
            </a:pPr>
            <a:r>
              <a:rPr lang="en-US" sz="1200" dirty="0">
                <a:solidFill>
                  <a:schemeClr val="accent4"/>
                </a:solidFill>
              </a:rPr>
              <a:t>High-risk fixes wait for a manager's approval, then run through APIs</a:t>
            </a:r>
            <a:endParaRPr lang="en-US" sz="1200" dirty="0"/>
          </a:p>
        </p:txBody>
      </p:sp>
      <p:sp>
        <p:nvSpPr>
          <p:cNvPr id="28" name="Feature card 6"/>
          <p:cNvSpPr/>
          <p:nvPr/>
        </p:nvSpPr>
        <p:spPr>
          <a:xfrm>
            <a:off x="4663440" y="3520440"/>
            <a:ext cx="4023360" cy="1005840"/>
          </a:xfrm>
          <a:prstGeom prst="roundRect">
            <a:avLst>
              <a:gd name="adj" fmla="val 9091"/>
            </a:avLst>
          </a:prstGeom>
          <a:solidFill>
            <a:schemeClr val="bg2"/>
          </a:solidFill>
          <a:ln/>
        </p:spPr>
      </p:sp>
      <p:sp>
        <p:nvSpPr>
          <p:cNvPr id="29" name="Feature icon circle 6"/>
          <p:cNvSpPr/>
          <p:nvPr/>
        </p:nvSpPr>
        <p:spPr>
          <a:xfrm>
            <a:off x="4846320" y="3749040"/>
            <a:ext cx="548640" cy="548640"/>
          </a:xfrm>
          <a:prstGeom prst="ellipse">
            <a:avLst/>
          </a:prstGeom>
          <a:solidFill>
            <a:schemeClr val="tx1"/>
          </a:solidFill>
          <a:ln/>
        </p:spPr>
      </p:sp>
      <p:pic>
        <p:nvPicPr>
          <p:cNvPr id="30" name="Feature icon 6" descr="Closed-loop verification icon">    </p:cNvPr>
          <p:cNvPicPr>
            <a:picLocks noChangeAspect="1"/>
          </p:cNvPicPr>
          <p:nvPr/>
        </p:nvPicPr>
        <p:blipFill>
          <a:blip r:embed="rId6"/>
          <a:stretch>
            <a:fillRect/>
          </a:stretch>
        </p:blipFill>
        <p:spPr>
          <a:xfrm>
            <a:off x="4992624" y="3895344"/>
            <a:ext cx="256032" cy="256032"/>
          </a:xfrm>
          <a:prstGeom prst="rect">
            <a:avLst/>
          </a:prstGeom>
        </p:spPr>
      </p:pic>
      <p:sp>
        <p:nvSpPr>
          <p:cNvPr id="31" name="Feature title 6"/>
          <p:cNvSpPr txBox="1"/>
          <p:nvPr/>
        </p:nvSpPr>
        <p:spPr>
          <a:xfrm>
            <a:off x="5532120" y="3630168"/>
            <a:ext cx="3017520" cy="320040"/>
          </a:xfrm>
          <a:prstGeom prst="rect">
            <a:avLst/>
          </a:prstGeom>
          <a:noFill/>
          <a:ln/>
        </p:spPr>
        <p:txBody>
          <a:bodyPr wrap="square" lIns="0" tIns="0" rIns="0" bIns="0" rtlCol="0" anchor="ctr"/>
          <a:lstStyle/>
          <a:p>
            <a:pPr indent="0" marL="0">
              <a:buNone/>
            </a:pPr>
            <a:r>
              <a:rPr lang="en-US" sz="1600" b="1" dirty="0">
                <a:solidFill>
                  <a:schemeClr val="tx1"/>
                </a:solidFill>
              </a:rPr>
              <a:t>Closed-loop verification</a:t>
            </a:r>
            <a:endParaRPr lang="en-US" sz="1600" dirty="0"/>
          </a:p>
        </p:txBody>
      </p:sp>
      <p:sp>
        <p:nvSpPr>
          <p:cNvPr id="32" name="Feature text 6"/>
          <p:cNvSpPr txBox="1"/>
          <p:nvPr/>
        </p:nvSpPr>
        <p:spPr>
          <a:xfrm>
            <a:off x="5532120" y="3977640"/>
            <a:ext cx="3017520" cy="475488"/>
          </a:xfrm>
          <a:prstGeom prst="rect">
            <a:avLst/>
          </a:prstGeom>
          <a:noFill/>
          <a:ln/>
        </p:spPr>
        <p:txBody>
          <a:bodyPr wrap="square" lIns="0" tIns="0" rIns="0" bIns="0" rtlCol="0" anchor="t"/>
          <a:lstStyle/>
          <a:p>
            <a:pPr indent="0" marL="0">
              <a:buNone/>
            </a:pPr>
            <a:r>
              <a:rPr lang="en-US" sz="1200" dirty="0">
                <a:solidFill>
                  <a:schemeClr val="accent4"/>
                </a:solidFill>
              </a:rPr>
              <a:t>Watches live metrics for 24-48 hours and reopens the case if needed</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ctr"/>
          <a:lstStyle/>
          <a:p>
            <a:pPr algn="l" indent="0" marL="0">
              <a:buNone/>
            </a:pPr>
            <a:r>
              <a:rPr lang="en-US" sz="3400" b="1" dirty="0">
                <a:solidFill>
                  <a:schemeClr val="bg1"/>
                </a:solidFill>
              </a:rPr>
              <a:t>Architecture, roles and KPIs</a:t>
            </a:r>
            <a:endParaRPr lang="en-US" sz="3400" dirty="0"/>
          </a:p>
        </p:txBody>
      </p:sp>
      <p:sp>
        <p:nvSpPr>
          <p:cNvPr id="3" name="Architecture header"/>
          <p:cNvSpPr txBox="1"/>
          <p:nvPr/>
        </p:nvSpPr>
        <p:spPr>
          <a:xfrm>
            <a:off x="457200" y="1097280"/>
            <a:ext cx="4206240" cy="274320"/>
          </a:xfrm>
          <a:prstGeom prst="rect">
            <a:avLst/>
          </a:prstGeom>
          <a:noFill/>
          <a:ln/>
        </p:spPr>
        <p:txBody>
          <a:bodyPr wrap="square" lIns="0" tIns="0" rIns="0" bIns="0" rtlCol="0" anchor="ctr"/>
          <a:lstStyle/>
          <a:p>
            <a:pPr indent="0" marL="0">
              <a:buNone/>
            </a:pPr>
            <a:r>
              <a:rPr lang="en-US" sz="1400" b="1" dirty="0">
                <a:solidFill>
                  <a:schemeClr val="accent1"/>
                </a:solidFill>
              </a:rPr>
              <a:t>Architecture</a:t>
            </a:r>
            <a:endParaRPr lang="en-US" sz="1400" dirty="0"/>
          </a:p>
        </p:txBody>
      </p:sp>
      <p:sp>
        <p:nvSpPr>
          <p:cNvPr id="4" name="Layer 1"/>
          <p:cNvSpPr/>
          <p:nvPr/>
        </p:nvSpPr>
        <p:spPr>
          <a:xfrm>
            <a:off x="457200" y="1417320"/>
            <a:ext cx="4206240" cy="621792"/>
          </a:xfrm>
          <a:prstGeom prst="roundRect">
            <a:avLst>
              <a:gd name="adj" fmla="val 11765"/>
            </a:avLst>
          </a:prstGeom>
          <a:solidFill>
            <a:schemeClr val="tx2"/>
          </a:solidFill>
          <a:ln/>
        </p:spPr>
      </p:sp>
      <p:sp>
        <p:nvSpPr>
          <p:cNvPr id="5" name="Layer name 1"/>
          <p:cNvSpPr txBox="1"/>
          <p:nvPr/>
        </p:nvSpPr>
        <p:spPr>
          <a:xfrm>
            <a:off x="621792" y="1417320"/>
            <a:ext cx="1051560" cy="621792"/>
          </a:xfrm>
          <a:prstGeom prst="rect">
            <a:avLst/>
          </a:prstGeom>
          <a:noFill/>
          <a:ln/>
        </p:spPr>
        <p:txBody>
          <a:bodyPr wrap="square" lIns="0" tIns="0" rIns="0" bIns="0" rtlCol="0" anchor="ctr"/>
          <a:lstStyle/>
          <a:p>
            <a:pPr indent="0" marL="0">
              <a:buNone/>
            </a:pPr>
            <a:r>
              <a:rPr lang="en-US" sz="1400" b="1" dirty="0">
                <a:solidFill>
                  <a:schemeClr val="accent1"/>
                </a:solidFill>
              </a:rPr>
              <a:t>Frontend</a:t>
            </a:r>
            <a:endParaRPr lang="en-US" sz="1400" dirty="0"/>
          </a:p>
        </p:txBody>
      </p:sp>
      <p:sp>
        <p:nvSpPr>
          <p:cNvPr id="6" name="Layer stack 1"/>
          <p:cNvSpPr txBox="1"/>
          <p:nvPr/>
        </p:nvSpPr>
        <p:spPr>
          <a:xfrm>
            <a:off x="1691640" y="1417320"/>
            <a:ext cx="2852928" cy="621792"/>
          </a:xfrm>
          <a:prstGeom prst="rect">
            <a:avLst/>
          </a:prstGeom>
          <a:noFill/>
          <a:ln/>
        </p:spPr>
        <p:txBody>
          <a:bodyPr wrap="square" lIns="0" tIns="0" rIns="0" bIns="0" rtlCol="0" anchor="ctr"/>
          <a:lstStyle/>
          <a:p>
            <a:pPr indent="0" marL="0">
              <a:buNone/>
            </a:pPr>
            <a:r>
              <a:rPr lang="en-US" sz="1200" dirty="0">
                <a:solidFill>
                  <a:schemeClr val="bg1"/>
                </a:solidFill>
              </a:rPr>
              <a:t>React 19, TypeScript, Tailwind, React Flow, Recharts</a:t>
            </a:r>
            <a:endParaRPr lang="en-US" sz="1200" dirty="0"/>
          </a:p>
        </p:txBody>
      </p:sp>
      <p:sp>
        <p:nvSpPr>
          <p:cNvPr id="7" name="Layer 2"/>
          <p:cNvSpPr/>
          <p:nvPr/>
        </p:nvSpPr>
        <p:spPr>
          <a:xfrm>
            <a:off x="457200" y="2112264"/>
            <a:ext cx="4206240" cy="621792"/>
          </a:xfrm>
          <a:prstGeom prst="roundRect">
            <a:avLst>
              <a:gd name="adj" fmla="val 11765"/>
            </a:avLst>
          </a:prstGeom>
          <a:solidFill>
            <a:schemeClr val="tx2"/>
          </a:solidFill>
          <a:ln/>
        </p:spPr>
      </p:sp>
      <p:sp>
        <p:nvSpPr>
          <p:cNvPr id="8" name="Layer name 2"/>
          <p:cNvSpPr txBox="1"/>
          <p:nvPr/>
        </p:nvSpPr>
        <p:spPr>
          <a:xfrm>
            <a:off x="621792" y="2112264"/>
            <a:ext cx="1051560" cy="621792"/>
          </a:xfrm>
          <a:prstGeom prst="rect">
            <a:avLst/>
          </a:prstGeom>
          <a:noFill/>
          <a:ln/>
        </p:spPr>
        <p:txBody>
          <a:bodyPr wrap="square" lIns="0" tIns="0" rIns="0" bIns="0" rtlCol="0" anchor="ctr"/>
          <a:lstStyle/>
          <a:p>
            <a:pPr indent="0" marL="0">
              <a:buNone/>
            </a:pPr>
            <a:r>
              <a:rPr lang="en-US" sz="1400" b="1" dirty="0">
                <a:solidFill>
                  <a:schemeClr val="accent1"/>
                </a:solidFill>
              </a:rPr>
              <a:t>Backend</a:t>
            </a:r>
            <a:endParaRPr lang="en-US" sz="1400" dirty="0"/>
          </a:p>
        </p:txBody>
      </p:sp>
      <p:sp>
        <p:nvSpPr>
          <p:cNvPr id="9" name="Layer stack 2"/>
          <p:cNvSpPr txBox="1"/>
          <p:nvPr/>
        </p:nvSpPr>
        <p:spPr>
          <a:xfrm>
            <a:off x="1691640" y="2112264"/>
            <a:ext cx="2852928" cy="621792"/>
          </a:xfrm>
          <a:prstGeom prst="rect">
            <a:avLst/>
          </a:prstGeom>
          <a:noFill/>
          <a:ln/>
        </p:spPr>
        <p:txBody>
          <a:bodyPr wrap="square" lIns="0" tIns="0" rIns="0" bIns="0" rtlCol="0" anchor="ctr"/>
          <a:lstStyle/>
          <a:p>
            <a:pPr indent="0" marL="0">
              <a:buNone/>
            </a:pPr>
            <a:r>
              <a:rPr lang="en-US" sz="1200" dirty="0">
                <a:solidFill>
                  <a:schemeClr val="bg1"/>
                </a:solidFill>
              </a:rPr>
              <a:t>FastAPI, SQLAlchemy, Alembic, WebSockets for live events</a:t>
            </a:r>
            <a:endParaRPr lang="en-US" sz="1200" dirty="0"/>
          </a:p>
        </p:txBody>
      </p:sp>
      <p:sp>
        <p:nvSpPr>
          <p:cNvPr id="10" name="Layer 3"/>
          <p:cNvSpPr/>
          <p:nvPr/>
        </p:nvSpPr>
        <p:spPr>
          <a:xfrm>
            <a:off x="457200" y="2807208"/>
            <a:ext cx="4206240" cy="621792"/>
          </a:xfrm>
          <a:prstGeom prst="roundRect">
            <a:avLst>
              <a:gd name="adj" fmla="val 11765"/>
            </a:avLst>
          </a:prstGeom>
          <a:solidFill>
            <a:schemeClr val="tx2"/>
          </a:solidFill>
          <a:ln/>
        </p:spPr>
      </p:sp>
      <p:sp>
        <p:nvSpPr>
          <p:cNvPr id="11" name="Layer name 3"/>
          <p:cNvSpPr txBox="1"/>
          <p:nvPr/>
        </p:nvSpPr>
        <p:spPr>
          <a:xfrm>
            <a:off x="621792" y="2807208"/>
            <a:ext cx="1051560" cy="621792"/>
          </a:xfrm>
          <a:prstGeom prst="rect">
            <a:avLst/>
          </a:prstGeom>
          <a:noFill/>
          <a:ln/>
        </p:spPr>
        <p:txBody>
          <a:bodyPr wrap="square" lIns="0" tIns="0" rIns="0" bIns="0" rtlCol="0" anchor="ctr"/>
          <a:lstStyle/>
          <a:p>
            <a:pPr indent="0" marL="0">
              <a:buNone/>
            </a:pPr>
            <a:r>
              <a:rPr lang="en-US" sz="1400" b="1" dirty="0">
                <a:solidFill>
                  <a:schemeClr val="accent1"/>
                </a:solidFill>
              </a:rPr>
              <a:t>AI engine</a:t>
            </a:r>
            <a:endParaRPr lang="en-US" sz="1400" dirty="0"/>
          </a:p>
        </p:txBody>
      </p:sp>
      <p:sp>
        <p:nvSpPr>
          <p:cNvPr id="12" name="Layer stack 3"/>
          <p:cNvSpPr txBox="1"/>
          <p:nvPr/>
        </p:nvSpPr>
        <p:spPr>
          <a:xfrm>
            <a:off x="1691640" y="2807208"/>
            <a:ext cx="2852928" cy="621792"/>
          </a:xfrm>
          <a:prstGeom prst="rect">
            <a:avLst/>
          </a:prstGeom>
          <a:noFill/>
          <a:ln/>
        </p:spPr>
        <p:txBody>
          <a:bodyPr wrap="square" lIns="0" tIns="0" rIns="0" bIns="0" rtlCol="0" anchor="ctr"/>
          <a:lstStyle/>
          <a:p>
            <a:pPr indent="0" marL="0">
              <a:buNone/>
            </a:pPr>
            <a:r>
              <a:rPr lang="en-US" sz="1200" dirty="0">
                <a:solidFill>
                  <a:schemeClr val="bg1"/>
                </a:solidFill>
              </a:rPr>
              <a:t>LangGraph agents, HDBSCAN, anomaly detection, VADER, NetworkX</a:t>
            </a:r>
            <a:endParaRPr lang="en-US" sz="1200" dirty="0"/>
          </a:p>
        </p:txBody>
      </p:sp>
      <p:sp>
        <p:nvSpPr>
          <p:cNvPr id="13" name="Layer 4"/>
          <p:cNvSpPr/>
          <p:nvPr/>
        </p:nvSpPr>
        <p:spPr>
          <a:xfrm>
            <a:off x="457200" y="3502152"/>
            <a:ext cx="4206240" cy="621792"/>
          </a:xfrm>
          <a:prstGeom prst="roundRect">
            <a:avLst>
              <a:gd name="adj" fmla="val 11765"/>
            </a:avLst>
          </a:prstGeom>
          <a:solidFill>
            <a:schemeClr val="tx2"/>
          </a:solidFill>
          <a:ln/>
        </p:spPr>
      </p:sp>
      <p:sp>
        <p:nvSpPr>
          <p:cNvPr id="14" name="Layer name 4"/>
          <p:cNvSpPr txBox="1"/>
          <p:nvPr/>
        </p:nvSpPr>
        <p:spPr>
          <a:xfrm>
            <a:off x="621792" y="3502152"/>
            <a:ext cx="1051560" cy="621792"/>
          </a:xfrm>
          <a:prstGeom prst="rect">
            <a:avLst/>
          </a:prstGeom>
          <a:noFill/>
          <a:ln/>
        </p:spPr>
        <p:txBody>
          <a:bodyPr wrap="square" lIns="0" tIns="0" rIns="0" bIns="0" rtlCol="0" anchor="ctr"/>
          <a:lstStyle/>
          <a:p>
            <a:pPr indent="0" marL="0">
              <a:buNone/>
            </a:pPr>
            <a:r>
              <a:rPr lang="en-US" sz="1400" b="1" dirty="0">
                <a:solidFill>
                  <a:schemeClr val="accent1"/>
                </a:solidFill>
              </a:rPr>
              <a:t>Data</a:t>
            </a:r>
            <a:endParaRPr lang="en-US" sz="1400" dirty="0"/>
          </a:p>
        </p:txBody>
      </p:sp>
      <p:sp>
        <p:nvSpPr>
          <p:cNvPr id="15" name="Layer stack 4"/>
          <p:cNvSpPr txBox="1"/>
          <p:nvPr/>
        </p:nvSpPr>
        <p:spPr>
          <a:xfrm>
            <a:off x="1691640" y="3502152"/>
            <a:ext cx="2852928" cy="621792"/>
          </a:xfrm>
          <a:prstGeom prst="rect">
            <a:avLst/>
          </a:prstGeom>
          <a:noFill/>
          <a:ln/>
        </p:spPr>
        <p:txBody>
          <a:bodyPr wrap="square" lIns="0" tIns="0" rIns="0" bIns="0" rtlCol="0" anchor="ctr"/>
          <a:lstStyle/>
          <a:p>
            <a:pPr indent="0" marL="0">
              <a:buNone/>
            </a:pPr>
            <a:r>
              <a:rPr lang="en-US" sz="1200" dirty="0">
                <a:solidFill>
                  <a:schemeClr val="bg1"/>
                </a:solidFill>
              </a:rPr>
              <a:t>MySQL 8 with automatic SQLite fallback</a:t>
            </a:r>
            <a:endParaRPr lang="en-US" sz="1200" dirty="0"/>
          </a:p>
        </p:txBody>
      </p:sp>
      <p:sp>
        <p:nvSpPr>
          <p:cNvPr id="16" name="KPI header"/>
          <p:cNvSpPr txBox="1"/>
          <p:nvPr/>
        </p:nvSpPr>
        <p:spPr>
          <a:xfrm>
            <a:off x="5029200" y="1097280"/>
            <a:ext cx="3657600" cy="274320"/>
          </a:xfrm>
          <a:prstGeom prst="rect">
            <a:avLst/>
          </a:prstGeom>
          <a:noFill/>
          <a:ln/>
        </p:spPr>
        <p:txBody>
          <a:bodyPr wrap="square" lIns="0" tIns="0" rIns="0" bIns="0" rtlCol="0" anchor="ctr"/>
          <a:lstStyle/>
          <a:p>
            <a:pPr indent="0" marL="0">
              <a:buNone/>
            </a:pPr>
            <a:r>
              <a:rPr lang="en-US" sz="1400" b="1" dirty="0">
                <a:solidFill>
                  <a:schemeClr val="accent1"/>
                </a:solidFill>
              </a:rPr>
              <a:t>Outcome KPIs</a:t>
            </a:r>
            <a:endParaRPr lang="en-US" sz="1400" dirty="0"/>
          </a:p>
        </p:txBody>
      </p:sp>
      <p:sp>
        <p:nvSpPr>
          <p:cNvPr id="17" name="KPI list"/>
          <p:cNvSpPr txBox="1"/>
          <p:nvPr/>
        </p:nvSpPr>
        <p:spPr>
          <a:xfrm>
            <a:off x="5029200" y="1417320"/>
            <a:ext cx="3657600" cy="155448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bg1"/>
                </a:solidFill>
              </a:rPr>
              <a:t>Time to detect and resolve</a:t>
            </a:r>
            <a:endParaRPr lang="en-US" sz="1400" dirty="0"/>
          </a:p>
          <a:p>
            <a:pPr marL="342900" indent="-342900">
              <a:spcAft>
                <a:spcPts val="500"/>
              </a:spcAft>
              <a:buSzPct val="100000"/>
              <a:buChar char="•"/>
            </a:pPr>
            <a:r>
              <a:rPr lang="en-US" sz="1400" dirty="0">
                <a:solidFill>
                  <a:schemeClr val="bg1"/>
                </a:solidFill>
              </a:rPr>
              <a:t>Complaint rate, affected segment</a:t>
            </a:r>
            <a:endParaRPr lang="en-US" sz="1400" dirty="0"/>
          </a:p>
          <a:p>
            <a:pPr marL="342900" indent="-342900">
              <a:spcAft>
                <a:spcPts val="500"/>
              </a:spcAft>
              <a:buSzPct val="100000"/>
              <a:buChar char="•"/>
            </a:pPr>
            <a:r>
              <a:rPr lang="en-US" sz="1400" dirty="0">
                <a:solidFill>
                  <a:schemeClr val="bg1"/>
                </a:solidFill>
              </a:rPr>
              <a:t>Revenue at risk recovered</a:t>
            </a:r>
            <a:endParaRPr lang="en-US" sz="1400" dirty="0"/>
          </a:p>
          <a:p>
            <a:pPr marL="342900" indent="-342900">
              <a:spcAft>
                <a:spcPts val="500"/>
              </a:spcAft>
              <a:buSzPct val="100000"/>
              <a:buChar char="•"/>
            </a:pPr>
            <a:r>
              <a:rPr lang="en-US" sz="1400" dirty="0">
                <a:solidFill>
                  <a:schemeClr val="bg1"/>
                </a:solidFill>
              </a:rPr>
              <a:t>CSAT and sentiment recovery</a:t>
            </a:r>
            <a:endParaRPr lang="en-US" sz="1400" dirty="0"/>
          </a:p>
          <a:p>
            <a:pPr marL="342900" indent="-342900">
              <a:spcAft>
                <a:spcPts val="500"/>
              </a:spcAft>
              <a:buSzPct val="100000"/>
              <a:buChar char="•"/>
            </a:pPr>
            <a:r>
              <a:rPr lang="en-US" sz="1400" dirty="0">
                <a:solidFill>
                  <a:schemeClr val="bg1"/>
                </a:solidFill>
              </a:rPr>
              <a:t>Case re-open rate</a:t>
            </a:r>
            <a:endParaRPr lang="en-US" sz="1400" dirty="0"/>
          </a:p>
        </p:txBody>
      </p:sp>
      <p:sp>
        <p:nvSpPr>
          <p:cNvPr id="18" name="Roles header"/>
          <p:cNvSpPr txBox="1"/>
          <p:nvPr/>
        </p:nvSpPr>
        <p:spPr>
          <a:xfrm>
            <a:off x="5029200" y="3108960"/>
            <a:ext cx="3657600" cy="274320"/>
          </a:xfrm>
          <a:prstGeom prst="rect">
            <a:avLst/>
          </a:prstGeom>
          <a:noFill/>
          <a:ln/>
        </p:spPr>
        <p:txBody>
          <a:bodyPr wrap="square" lIns="0" tIns="0" rIns="0" bIns="0" rtlCol="0" anchor="ctr"/>
          <a:lstStyle/>
          <a:p>
            <a:pPr indent="0" marL="0">
              <a:buNone/>
            </a:pPr>
            <a:r>
              <a:rPr lang="en-US" sz="1400" b="1" dirty="0">
                <a:solidFill>
                  <a:schemeClr val="accent1"/>
                </a:solidFill>
              </a:rPr>
              <a:t>Role-based access</a:t>
            </a:r>
            <a:endParaRPr lang="en-US" sz="1400" dirty="0"/>
          </a:p>
        </p:txBody>
      </p:sp>
      <p:sp>
        <p:nvSpPr>
          <p:cNvPr id="19" name="Role Viewer"/>
          <p:cNvSpPr txBox="1"/>
          <p:nvPr/>
        </p:nvSpPr>
        <p:spPr>
          <a:xfrm>
            <a:off x="5029200" y="3474720"/>
            <a:ext cx="841248" cy="457200"/>
          </a:xfrm>
          <a:prstGeom prst="roundRect">
            <a:avLst>
              <a:gd name="adj" fmla="val 16000"/>
            </a:avLst>
          </a:prstGeom>
          <a:solidFill>
            <a:schemeClr val="tx2"/>
          </a:solidFill>
          <a:ln/>
        </p:spPr>
        <p:txBody>
          <a:bodyPr wrap="square" lIns="0" tIns="0" rIns="0" bIns="0" rtlCol="0" anchor="ctr"/>
          <a:lstStyle/>
          <a:p>
            <a:pPr algn="ctr" indent="0" marL="0">
              <a:buNone/>
            </a:pPr>
            <a:r>
              <a:rPr lang="en-US" sz="1200" b="1" dirty="0">
                <a:solidFill>
                  <a:schemeClr val="bg1"/>
                </a:solidFill>
              </a:rPr>
              <a:t>Viewer</a:t>
            </a:r>
            <a:endParaRPr lang="en-US" sz="1200" dirty="0"/>
          </a:p>
        </p:txBody>
      </p:sp>
      <p:sp>
        <p:nvSpPr>
          <p:cNvPr id="20" name="Role Analyst"/>
          <p:cNvSpPr txBox="1"/>
          <p:nvPr/>
        </p:nvSpPr>
        <p:spPr>
          <a:xfrm>
            <a:off x="5967984" y="3474720"/>
            <a:ext cx="841248" cy="457200"/>
          </a:xfrm>
          <a:prstGeom prst="roundRect">
            <a:avLst>
              <a:gd name="adj" fmla="val 16000"/>
            </a:avLst>
          </a:prstGeom>
          <a:solidFill>
            <a:schemeClr val="tx2"/>
          </a:solidFill>
          <a:ln/>
        </p:spPr>
        <p:txBody>
          <a:bodyPr wrap="square" lIns="0" tIns="0" rIns="0" bIns="0" rtlCol="0" anchor="ctr"/>
          <a:lstStyle/>
          <a:p>
            <a:pPr algn="ctr" indent="0" marL="0">
              <a:buNone/>
            </a:pPr>
            <a:r>
              <a:rPr lang="en-US" sz="1200" b="1" dirty="0">
                <a:solidFill>
                  <a:schemeClr val="bg1"/>
                </a:solidFill>
              </a:rPr>
              <a:t>Analyst</a:t>
            </a:r>
            <a:endParaRPr lang="en-US" sz="1200" dirty="0"/>
          </a:p>
        </p:txBody>
      </p:sp>
      <p:sp>
        <p:nvSpPr>
          <p:cNvPr id="21" name="Role Approver"/>
          <p:cNvSpPr txBox="1"/>
          <p:nvPr/>
        </p:nvSpPr>
        <p:spPr>
          <a:xfrm>
            <a:off x="6906768" y="3474720"/>
            <a:ext cx="841248" cy="457200"/>
          </a:xfrm>
          <a:prstGeom prst="roundRect">
            <a:avLst>
              <a:gd name="adj" fmla="val 16000"/>
            </a:avLst>
          </a:prstGeom>
          <a:solidFill>
            <a:schemeClr val="accent2"/>
          </a:solidFill>
          <a:ln/>
        </p:spPr>
        <p:txBody>
          <a:bodyPr wrap="square" lIns="0" tIns="0" rIns="0" bIns="0" rtlCol="0" anchor="ctr"/>
          <a:lstStyle/>
          <a:p>
            <a:pPr algn="ctr" indent="0" marL="0">
              <a:buNone/>
            </a:pPr>
            <a:r>
              <a:rPr lang="en-US" sz="1200" b="1" dirty="0">
                <a:solidFill>
                  <a:schemeClr val="tx1"/>
                </a:solidFill>
              </a:rPr>
              <a:t>Approver</a:t>
            </a:r>
            <a:endParaRPr lang="en-US" sz="1200" dirty="0"/>
          </a:p>
        </p:txBody>
      </p:sp>
      <p:sp>
        <p:nvSpPr>
          <p:cNvPr id="22" name="Role Admin"/>
          <p:cNvSpPr txBox="1"/>
          <p:nvPr/>
        </p:nvSpPr>
        <p:spPr>
          <a:xfrm>
            <a:off x="7845552" y="3474720"/>
            <a:ext cx="841248" cy="457200"/>
          </a:xfrm>
          <a:prstGeom prst="roundRect">
            <a:avLst>
              <a:gd name="adj" fmla="val 16000"/>
            </a:avLst>
          </a:prstGeom>
          <a:solidFill>
            <a:schemeClr val="tx2"/>
          </a:solidFill>
          <a:ln/>
        </p:spPr>
        <p:txBody>
          <a:bodyPr wrap="square" lIns="0" tIns="0" rIns="0" bIns="0" rtlCol="0" anchor="ctr"/>
          <a:lstStyle/>
          <a:p>
            <a:pPr algn="ctr" indent="0" marL="0">
              <a:buNone/>
            </a:pPr>
            <a:r>
              <a:rPr lang="en-US" sz="1200" b="1" dirty="0">
                <a:solidFill>
                  <a:schemeClr val="bg1"/>
                </a:solidFill>
              </a:rPr>
              <a:t>Admin</a:t>
            </a:r>
            <a:endParaRPr lang="en-US" sz="1200" dirty="0"/>
          </a:p>
        </p:txBody>
      </p:sp>
      <p:sp>
        <p:nvSpPr>
          <p:cNvPr id="23" name="Closing line"/>
          <p:cNvSpPr txBox="1"/>
          <p:nvPr/>
        </p:nvSpPr>
        <p:spPr>
          <a:xfrm>
            <a:off x="457200" y="4315968"/>
            <a:ext cx="8229600" cy="347472"/>
          </a:xfrm>
          <a:prstGeom prst="rect">
            <a:avLst/>
          </a:prstGeom>
          <a:noFill/>
          <a:ln/>
        </p:spPr>
        <p:txBody>
          <a:bodyPr wrap="square" lIns="0" tIns="0" rIns="0" bIns="0" rtlCol="0" anchor="ctr"/>
          <a:lstStyle/>
          <a:p>
            <a:pPr indent="0" marL="0">
              <a:buNone/>
            </a:pPr>
            <a:r>
              <a:rPr lang="en-US" sz="1800" b="1" i="1" dirty="0">
                <a:solidFill>
                  <a:schemeClr val="accent1"/>
                </a:solidFill>
              </a:rPr>
              <a:t>Others count complaints. CX Sentinel AI resolves them.</a:t>
            </a:r>
            <a:endParaRPr lang="en-US" sz="18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5</a:t>
            </a:fld>
            <a:endParaRPr lang="en-US"/>
          </a:p>
        </p:txBody>
      </p:sp>
    </p:spTree>
  </p:cSld>
  <p:clrMapOvr>
    <a:masterClrMapping/>
  </p:clrMapOvr>
</p:sld>
</file>

<file path=ppt/theme/theme1.xml><?xml version="1.0" encoding="utf-8"?>
<a:theme xmlns:a="http://schemas.openxmlformats.org/drawingml/2006/main" name="CX Sentinel">
  <a:themeElements>
    <a:clrScheme name="CX Sentinel">
      <a:dk1>
        <a:srgbClr val="0B1B33"/>
      </a:dk1>
      <a:lt1>
        <a:srgbClr val="FFFFFF"/>
      </a:lt1>
      <a:dk2>
        <a:srgbClr val="17315A"/>
      </a:dk2>
      <a:lt2>
        <a:srgbClr val="EEF3F8"/>
      </a:lt2>
      <a:accent1>
        <a:srgbClr val="1FB5B0"/>
      </a:accent1>
      <a:accent2>
        <a:srgbClr val="F5A524"/>
      </a:accent2>
      <a:accent3>
        <a:srgbClr val="3B82F6"/>
      </a:accent3>
      <a:accent4>
        <a:srgbClr val="5B6B82"/>
      </a:accent4>
      <a:accent5>
        <a:srgbClr val="E5484D"/>
      </a:accent5>
      <a:accent6>
        <a:srgbClr val="22A06B"/>
      </a:accent6>
      <a:hlink>
        <a:srgbClr val="1FB5B0"/>
      </a:hlink>
      <a:folHlink>
        <a:srgbClr val="5B6B82"/>
      </a:folHlink>
    </a:clrScheme>
    <a:fontScheme name="CX Sentinel">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CX Sentinel AI</dc:title>
  <dc:subject>Autonomous Customer Experience Recovery</dc:subject>
  <dc:creator>Team Deep-X</dc:creator>
  <cp:lastModifiedBy>Team Deep-X</cp:lastModifiedBy>
  <cp:revision>1</cp:revision>
  <dcterms:created xsi:type="dcterms:W3CDTF">2026-10-31T07:07:55Z</dcterms:created>
  <dcterms:modified xsi:type="dcterms:W3CDTF">2026-10-31T07:07:55Z</dcterms:modified>
</cp:coreProperties>
</file>